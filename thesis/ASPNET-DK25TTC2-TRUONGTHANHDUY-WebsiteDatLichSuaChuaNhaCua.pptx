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257425" y="4026098"/>
            <a:ext cx="7677150" cy="1186755"/>
          </a:xfrm>
          <a:prstGeom prst="rect">
            <a:avLst/>
          </a:prstGeom>
        </p:spPr>
      </p:pic>
      <p:pic>
        <p:nvPicPr>
          <p:cNvPr id="4" name="Picture 3" descr="image.png"/>
          <p:cNvPicPr>
            <a:picLocks noChangeAspect="1"/>
          </p:cNvPicPr>
          <p:nvPr/>
        </p:nvPicPr>
        <p:blipFill>
          <a:blip r:embed="rId4"/>
          <a:stretch>
            <a:fillRect/>
          </a:stretch>
        </p:blipFill>
        <p:spPr>
          <a:xfrm>
            <a:off x="1676400" y="892522"/>
            <a:ext cx="8839200" cy="5072806"/>
          </a:xfrm>
          <a:prstGeom prst="rect">
            <a:avLst/>
          </a:prstGeom>
        </p:spPr>
      </p:pic>
      <p:sp>
        <p:nvSpPr>
          <p:cNvPr id="5" name="TextBox 4"/>
          <p:cNvSpPr txBox="1"/>
          <p:nvPr/>
        </p:nvSpPr>
        <p:spPr>
          <a:xfrm>
            <a:off x="2065496" y="1473547"/>
            <a:ext cx="8061007" cy="276225"/>
          </a:xfrm>
          <a:prstGeom prst="rect">
            <a:avLst/>
          </a:prstGeom>
          <a:noFill/>
        </p:spPr>
        <p:txBody>
          <a:bodyPr wrap="square" lIns="0" tIns="0" rIns="0" bIns="0" anchor="t">
            <a:spAutoFit/>
          </a:bodyPr>
          <a:lstStyle/>
          <a:p>
            <a:pPr algn="ctr"/>
            <a:r>
              <a:rPr sz="1800" b="0" i="0" u="none">
                <a:solidFill>
                  <a:srgbClr val="34D399"/>
                </a:solidFill>
                <a:latin typeface="Urbanist SemiBold"/>
              </a:rPr>
              <a:t>ĐỒ ÁN MÔN HỌC</a:t>
            </a:r>
          </a:p>
        </p:txBody>
      </p:sp>
      <p:sp>
        <p:nvSpPr>
          <p:cNvPr id="6" name="TextBox 5"/>
          <p:cNvSpPr txBox="1"/>
          <p:nvPr/>
        </p:nvSpPr>
        <p:spPr>
          <a:xfrm>
            <a:off x="2065496" y="1892647"/>
            <a:ext cx="8061007" cy="1173360"/>
          </a:xfrm>
          <a:prstGeom prst="rect">
            <a:avLst/>
          </a:prstGeom>
          <a:noFill/>
        </p:spPr>
        <p:txBody>
          <a:bodyPr wrap="square" lIns="0" tIns="0" rIns="0" bIns="0" anchor="t">
            <a:spAutoFit/>
          </a:bodyPr>
          <a:lstStyle/>
          <a:p>
            <a:pPr algn="ctr">
              <a:lnSpc>
                <a:spcPts val="4620"/>
              </a:lnSpc>
            </a:pPr>
            <a:r>
              <a:rPr sz="4200" b="1" i="0" u="none">
                <a:solidFill>
                  <a:srgbClr val="F8FAFC"/>
                </a:solidFill>
                <a:latin typeface="Urbanist"/>
              </a:rPr>
              <a:t>Xây Dựng Website Đặt Dịch Vụ </a:t>
            </a:r>
            <a:r>
              <a:rPr sz="4200" b="1" i="0" u="none">
                <a:solidFill>
                  <a:srgbClr val="34D399"/>
                </a:solidFill>
                <a:latin typeface="Urbanist"/>
              </a:rPr>
              <a:t>Sửa Chữa Nhà Cửa</a:t>
            </a:r>
          </a:p>
        </p:txBody>
      </p:sp>
      <p:sp>
        <p:nvSpPr>
          <p:cNvPr id="7" name="TextBox 6"/>
          <p:cNvSpPr txBox="1"/>
          <p:nvPr/>
        </p:nvSpPr>
        <p:spPr>
          <a:xfrm>
            <a:off x="2257425" y="3256508"/>
            <a:ext cx="7677150" cy="293340"/>
          </a:xfrm>
          <a:prstGeom prst="rect">
            <a:avLst/>
          </a:prstGeom>
          <a:noFill/>
        </p:spPr>
        <p:txBody>
          <a:bodyPr wrap="square" lIns="0" tIns="0" rIns="0" bIns="0" anchor="t">
            <a:spAutoFit/>
          </a:bodyPr>
          <a:lstStyle/>
          <a:p>
            <a:pPr algn="ctr">
              <a:lnSpc>
                <a:spcPts val="2310"/>
              </a:lnSpc>
            </a:pPr>
            <a:r>
              <a:rPr sz="1650" b="0" i="0" u="none">
                <a:solidFill>
                  <a:srgbClr val="94A3B8"/>
                </a:solidFill>
                <a:latin typeface="Urbanist Medium"/>
              </a:rPr>
              <a:t>Chuyên Đề ASP.NET</a:t>
            </a:r>
          </a:p>
        </p:txBody>
      </p:sp>
      <p:sp>
        <p:nvSpPr>
          <p:cNvPr id="8" name="TextBox 7"/>
          <p:cNvSpPr txBox="1"/>
          <p:nvPr/>
        </p:nvSpPr>
        <p:spPr>
          <a:xfrm>
            <a:off x="2257425" y="4492823"/>
            <a:ext cx="7677150" cy="274290"/>
          </a:xfrm>
          <a:prstGeom prst="rect">
            <a:avLst/>
          </a:prstGeom>
          <a:noFill/>
        </p:spPr>
        <p:txBody>
          <a:bodyPr wrap="square" lIns="0" tIns="0" rIns="0" bIns="0" anchor="t">
            <a:spAutoFit/>
          </a:bodyPr>
          <a:lstStyle/>
          <a:p>
            <a:pPr algn="ctr">
              <a:lnSpc>
                <a:spcPts val="2160"/>
              </a:lnSpc>
            </a:pPr>
            <a:r>
              <a:rPr sz="1350" b="0" i="0" u="none">
                <a:solidFill>
                  <a:srgbClr val="94A3B8"/>
                </a:solidFill>
                <a:latin typeface="Urbanist"/>
              </a:rPr>
              <a:t>Sinh viên thực hiện: Trương Thanh Duy</a:t>
            </a:r>
          </a:p>
        </p:txBody>
      </p:sp>
      <p:sp>
        <p:nvSpPr>
          <p:cNvPr id="9" name="TextBox 8"/>
          <p:cNvSpPr txBox="1"/>
          <p:nvPr/>
        </p:nvSpPr>
        <p:spPr>
          <a:xfrm>
            <a:off x="2257425" y="4938563"/>
            <a:ext cx="7677150" cy="274290"/>
          </a:xfrm>
          <a:prstGeom prst="rect">
            <a:avLst/>
          </a:prstGeom>
          <a:noFill/>
        </p:spPr>
        <p:txBody>
          <a:bodyPr wrap="square" lIns="0" tIns="0" rIns="0" bIns="0" anchor="t">
            <a:spAutoFit/>
          </a:bodyPr>
          <a:lstStyle/>
          <a:p>
            <a:pPr algn="ctr">
              <a:lnSpc>
                <a:spcPts val="2160"/>
              </a:lnSpc>
            </a:pPr>
            <a:r>
              <a:rPr sz="1350" b="0" i="0" u="none">
                <a:solidFill>
                  <a:srgbClr val="94A3B8"/>
                </a:solidFill>
                <a:latin typeface="Urbanist"/>
              </a:rPr>
              <a:t>GVHD: TS. Nguyễn Nhứt Lam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884461" y="2260252"/>
            <a:ext cx="8422927" cy="1680120"/>
          </a:xfrm>
          <a:prstGeom prst="rect">
            <a:avLst/>
          </a:prstGeom>
          <a:noFill/>
        </p:spPr>
        <p:txBody>
          <a:bodyPr wrap="square" lIns="0" tIns="0" rIns="0" bIns="0" anchor="t">
            <a:spAutoFit/>
          </a:bodyPr>
          <a:lstStyle/>
          <a:p>
            <a:pPr algn="ctr">
              <a:lnSpc>
                <a:spcPts val="4409"/>
              </a:lnSpc>
            </a:pPr>
            <a:r>
              <a:rPr sz="3150" b="0" i="0" u="none">
                <a:solidFill>
                  <a:srgbClr val="F8FAFC"/>
                </a:solidFill>
                <a:latin typeface="Urbanist Medium"/>
              </a:rPr>
              <a:t>Sự hỗ trợ và những góp ý chuyên sâu của Thầy Cô là yếu tố then chốt giúp Đồ án được hoàn thiện. Em xin chân thành cảm ơn!</a:t>
            </a:r>
          </a:p>
        </p:txBody>
      </p:sp>
      <p:sp>
        <p:nvSpPr>
          <p:cNvPr id="4" name="TextBox 3"/>
          <p:cNvSpPr txBox="1"/>
          <p:nvPr/>
        </p:nvSpPr>
        <p:spPr>
          <a:xfrm>
            <a:off x="4546252" y="4321373"/>
            <a:ext cx="3099345" cy="276225"/>
          </a:xfrm>
          <a:prstGeom prst="rect">
            <a:avLst/>
          </a:prstGeom>
          <a:noFill/>
        </p:spPr>
        <p:txBody>
          <a:bodyPr wrap="square" lIns="0" tIns="0" rIns="0" bIns="0" anchor="t">
            <a:spAutoFit/>
          </a:bodyPr>
          <a:lstStyle/>
          <a:p>
            <a:pPr algn="ctr"/>
            <a:r>
              <a:rPr sz="1800" b="0" i="0" u="none">
                <a:solidFill>
                  <a:srgbClr val="818CF8"/>
                </a:solidFill>
                <a:latin typeface="Urbanist SemiBold"/>
              </a:rPr>
              <a:t>— TRƯƠNG THANH DUY —</a:t>
            </a:r>
          </a:p>
        </p:txBody>
      </p:sp>
      <p:sp>
        <p:nvSpPr>
          <p:cNvPr id="5" name="TextBox 4"/>
          <p:cNvSpPr txBox="1"/>
          <p:nvPr/>
        </p:nvSpPr>
        <p:spPr>
          <a:xfrm>
            <a:off x="1312961" y="2546002"/>
            <a:ext cx="388887" cy="1095375"/>
          </a:xfrm>
          <a:prstGeom prst="rect">
            <a:avLst/>
          </a:prstGeom>
          <a:noFill/>
        </p:spPr>
        <p:txBody>
          <a:bodyPr wrap="square" lIns="0" tIns="0" rIns="0" bIns="0" anchor="t">
            <a:spAutoFit/>
          </a:bodyPr>
          <a:lstStyle/>
          <a:p>
            <a:pPr algn="l">
              <a:lnSpc>
                <a:spcPts val="0"/>
              </a:lnSpc>
            </a:pPr>
            <a:r>
              <a:rPr sz="7500" b="0" i="0" u="none">
                <a:solidFill>
                  <a:srgbClr val="1E293B"/>
                </a:solidFill>
                <a:latin typeface="serif Medium"/>
              </a:rPr>
              <a:t>"</a:t>
            </a:r>
          </a:p>
        </p:txBody>
      </p:sp>
      <p:sp>
        <p:nvSpPr>
          <p:cNvPr id="6" name="TextBox 5"/>
          <p:cNvSpPr txBox="1"/>
          <p:nvPr/>
        </p:nvSpPr>
        <p:spPr>
          <a:xfrm>
            <a:off x="10490003" y="4035627"/>
            <a:ext cx="388887" cy="1095375"/>
          </a:xfrm>
          <a:prstGeom prst="rect">
            <a:avLst/>
          </a:prstGeom>
          <a:noFill/>
        </p:spPr>
        <p:txBody>
          <a:bodyPr wrap="square" lIns="0" tIns="0" rIns="0" bIns="0" anchor="t">
            <a:spAutoFit/>
          </a:bodyPr>
          <a:lstStyle/>
          <a:p>
            <a:pPr algn="l">
              <a:lnSpc>
                <a:spcPts val="0"/>
              </a:lnSpc>
            </a:pPr>
            <a:r>
              <a:rPr sz="7500" b="0" i="0" u="none">
                <a:solidFill>
                  <a:srgbClr val="1E293B"/>
                </a:solidFill>
                <a:latin typeface="serif Medium"/>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470695"/>
            <a:ext cx="5301406" cy="2800350"/>
          </a:xfrm>
          <a:prstGeom prst="rect">
            <a:avLst/>
          </a:prstGeom>
        </p:spPr>
      </p:pic>
      <p:pic>
        <p:nvPicPr>
          <p:cNvPr id="4" name="Picture 3" descr="image.png"/>
          <p:cNvPicPr>
            <a:picLocks noChangeAspect="1"/>
          </p:cNvPicPr>
          <p:nvPr/>
        </p:nvPicPr>
        <p:blipFill>
          <a:blip r:embed="rId4"/>
          <a:stretch>
            <a:fillRect/>
          </a:stretch>
        </p:blipFill>
        <p:spPr>
          <a:xfrm>
            <a:off x="6358681" y="2470695"/>
            <a:ext cx="5252293" cy="2800350"/>
          </a:xfrm>
          <a:prstGeom prst="rect">
            <a:avLst/>
          </a:prstGeom>
        </p:spPr>
      </p:pic>
      <p:sp>
        <p:nvSpPr>
          <p:cNvPr id="5" name="TextBox 4"/>
          <p:cNvSpPr txBox="1"/>
          <p:nvPr/>
        </p:nvSpPr>
        <p:spPr>
          <a:xfrm>
            <a:off x="971550" y="2861220"/>
            <a:ext cx="4746374" cy="276225"/>
          </a:xfrm>
          <a:prstGeom prst="rect">
            <a:avLst/>
          </a:prstGeom>
          <a:noFill/>
        </p:spPr>
        <p:txBody>
          <a:bodyPr wrap="square" lIns="0" tIns="0" rIns="0" bIns="0" anchor="t">
            <a:spAutoFit/>
          </a:bodyPr>
          <a:lstStyle/>
          <a:p>
            <a:pPr algn="l"/>
            <a:r>
              <a:rPr sz="1800" b="0" i="0" u="none">
                <a:solidFill>
                  <a:srgbClr val="34D399"/>
                </a:solidFill>
                <a:latin typeface="Urbanist SemiBold"/>
              </a:rPr>
              <a:t>Mục Tiêu Cốt Lõi</a:t>
            </a:r>
          </a:p>
        </p:txBody>
      </p:sp>
      <p:sp>
        <p:nvSpPr>
          <p:cNvPr id="6" name="TextBox 5"/>
          <p:cNvSpPr txBox="1"/>
          <p:nvPr/>
        </p:nvSpPr>
        <p:spPr>
          <a:xfrm>
            <a:off x="971550" y="3470820"/>
            <a:ext cx="4520356" cy="12192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a:rPr>
              <a:t>Số hóa quy trình đặt lịch và quản lý dịch vụ sửa chữa nhà cửa. Nền tảng nhằm kết nối khách hàng với đội ngũ thợ lành nghề một cách nhanh chóng, minh bạch và hiệu quả nhất.</a:t>
            </a:r>
          </a:p>
        </p:txBody>
      </p:sp>
      <p:sp>
        <p:nvSpPr>
          <p:cNvPr id="7" name="TextBox 6"/>
          <p:cNvSpPr txBox="1"/>
          <p:nvPr/>
        </p:nvSpPr>
        <p:spPr>
          <a:xfrm>
            <a:off x="6749206" y="2861220"/>
            <a:ext cx="4694805" cy="276225"/>
          </a:xfrm>
          <a:prstGeom prst="rect">
            <a:avLst/>
          </a:prstGeom>
          <a:noFill/>
        </p:spPr>
        <p:txBody>
          <a:bodyPr wrap="square" lIns="0" tIns="0" rIns="0" bIns="0" anchor="t">
            <a:spAutoFit/>
          </a:bodyPr>
          <a:lstStyle/>
          <a:p>
            <a:pPr algn="l"/>
            <a:r>
              <a:rPr sz="1800" b="0" i="0" u="none">
                <a:solidFill>
                  <a:srgbClr val="818CF8"/>
                </a:solidFill>
                <a:latin typeface="Urbanist SemiBold"/>
              </a:rPr>
              <a:t>Công Nghệ Nền Tảng</a:t>
            </a:r>
          </a:p>
        </p:txBody>
      </p:sp>
      <p:sp>
        <p:nvSpPr>
          <p:cNvPr id="8" name="TextBox 7"/>
          <p:cNvSpPr txBox="1"/>
          <p:nvPr/>
        </p:nvSpPr>
        <p:spPr>
          <a:xfrm>
            <a:off x="6749206" y="3470820"/>
            <a:ext cx="4471243" cy="12192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a:rPr>
              <a:t>Hệ thống được phát triển trên kiến trúc hiện đại sử dụng </a:t>
            </a:r>
            <a:r>
              <a:rPr sz="1500" b="1" i="0" u="none">
                <a:solidFill>
                  <a:srgbClr val="CBD5E1"/>
                </a:solidFill>
                <a:latin typeface="Urbanist"/>
              </a:rPr>
              <a:t>ASP.NET Core 9.0 MVC</a:t>
            </a:r>
            <a:r>
              <a:rPr sz="1500" b="0" i="0" u="none">
                <a:solidFill>
                  <a:srgbClr val="CBD5E1"/>
                </a:solidFill>
                <a:latin typeface="Urbanist"/>
              </a:rPr>
              <a:t>, kết hợp với Entity Framework Core cho truy xuất dữ liệu và ASP.NET Core Identity để bảo mật.</a:t>
            </a:r>
          </a:p>
        </p:txBody>
      </p:sp>
      <p:sp>
        <p:nvSpPr>
          <p:cNvPr id="9" name="TextBox 8"/>
          <p:cNvSpPr txBox="1"/>
          <p:nvPr/>
        </p:nvSpPr>
        <p:spPr>
          <a:xfrm>
            <a:off x="581025" y="485775"/>
            <a:ext cx="3297287"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Tóm Tắt </a:t>
            </a:r>
            <a:r>
              <a:rPr sz="3600" b="1" i="0" u="none">
                <a:solidFill>
                  <a:srgbClr val="34D399"/>
                </a:solidFill>
                <a:latin typeface="Urbanist"/>
              </a:rPr>
              <a:t>Đồ Án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351633"/>
            <a:ext cx="3549550" cy="3038475"/>
          </a:xfrm>
          <a:prstGeom prst="rect">
            <a:avLst/>
          </a:prstGeom>
        </p:spPr>
      </p:pic>
      <p:pic>
        <p:nvPicPr>
          <p:cNvPr id="4" name="Picture 3" descr="image.png"/>
          <p:cNvPicPr>
            <a:picLocks noChangeAspect="1"/>
          </p:cNvPicPr>
          <p:nvPr/>
        </p:nvPicPr>
        <p:blipFill>
          <a:blip r:embed="rId4"/>
          <a:stretch>
            <a:fillRect/>
          </a:stretch>
        </p:blipFill>
        <p:spPr>
          <a:xfrm>
            <a:off x="4321075" y="2351633"/>
            <a:ext cx="3549699" cy="3038475"/>
          </a:xfrm>
          <a:prstGeom prst="rect">
            <a:avLst/>
          </a:prstGeom>
        </p:spPr>
      </p:pic>
      <p:pic>
        <p:nvPicPr>
          <p:cNvPr id="5" name="Picture 4" descr="image.png"/>
          <p:cNvPicPr>
            <a:picLocks noChangeAspect="1"/>
          </p:cNvPicPr>
          <p:nvPr/>
        </p:nvPicPr>
        <p:blipFill>
          <a:blip r:embed="rId5"/>
          <a:stretch>
            <a:fillRect/>
          </a:stretch>
        </p:blipFill>
        <p:spPr>
          <a:xfrm>
            <a:off x="8061275" y="2351633"/>
            <a:ext cx="3549550" cy="3038475"/>
          </a:xfrm>
          <a:prstGeom prst="rect">
            <a:avLst/>
          </a:prstGeom>
        </p:spPr>
      </p:pic>
      <p:pic>
        <p:nvPicPr>
          <p:cNvPr id="6" name="Picture 5" descr="image.png"/>
          <p:cNvPicPr>
            <a:picLocks noChangeAspect="1"/>
          </p:cNvPicPr>
          <p:nvPr/>
        </p:nvPicPr>
        <p:blipFill>
          <a:blip r:embed="rId6"/>
          <a:stretch>
            <a:fillRect/>
          </a:stretch>
        </p:blipFill>
        <p:spPr>
          <a:xfrm>
            <a:off x="2022425" y="2694533"/>
            <a:ext cx="666750" cy="666750"/>
          </a:xfrm>
          <a:prstGeom prst="rect">
            <a:avLst/>
          </a:prstGeom>
        </p:spPr>
      </p:pic>
      <p:sp>
        <p:nvSpPr>
          <p:cNvPr id="7" name="TextBox 6"/>
          <p:cNvSpPr txBox="1"/>
          <p:nvPr/>
        </p:nvSpPr>
        <p:spPr>
          <a:xfrm>
            <a:off x="1721974" y="3599408"/>
            <a:ext cx="1267502" cy="276225"/>
          </a:xfrm>
          <a:prstGeom prst="rect">
            <a:avLst/>
          </a:prstGeom>
          <a:noFill/>
        </p:spPr>
        <p:txBody>
          <a:bodyPr wrap="square" lIns="0" tIns="0" rIns="0" bIns="0" anchor="t">
            <a:spAutoFit/>
          </a:bodyPr>
          <a:lstStyle/>
          <a:p>
            <a:pPr algn="ctr"/>
            <a:r>
              <a:rPr sz="1800" b="0" i="0" u="none">
                <a:solidFill>
                  <a:srgbClr val="F8FAFC"/>
                </a:solidFill>
                <a:latin typeface="Urbanist SemiBold"/>
              </a:rPr>
              <a:t>Thực Trạng</a:t>
            </a:r>
          </a:p>
        </p:txBody>
      </p:sp>
      <p:sp>
        <p:nvSpPr>
          <p:cNvPr id="8" name="TextBox 7"/>
          <p:cNvSpPr txBox="1"/>
          <p:nvPr/>
        </p:nvSpPr>
        <p:spPr>
          <a:xfrm>
            <a:off x="828675" y="4018508"/>
            <a:ext cx="3054250" cy="1028700"/>
          </a:xfrm>
          <a:prstGeom prst="rect">
            <a:avLst/>
          </a:prstGeom>
          <a:noFill/>
        </p:spPr>
        <p:txBody>
          <a:bodyPr wrap="square" lIns="0" tIns="0" rIns="0" bIns="0" anchor="t">
            <a:spAutoFit/>
          </a:bodyPr>
          <a:lstStyle/>
          <a:p>
            <a:pPr algn="ctr">
              <a:lnSpc>
                <a:spcPts val="2025"/>
              </a:lnSpc>
            </a:pPr>
            <a:r>
              <a:rPr sz="1350" b="0" i="0" u="none">
                <a:solidFill>
                  <a:srgbClr val="CBD5E1"/>
                </a:solidFill>
                <a:latin typeface="Urbanist"/>
              </a:rPr>
              <a:t>Người dùng gặp khó khăn trong việc tìm kiếm thợ sửa chữa uy tín, so sánh giá cả và theo dõi tiến độ qua các kênh truyền thống thiếu minh bạch.</a:t>
            </a:r>
          </a:p>
        </p:txBody>
      </p:sp>
      <p:pic>
        <p:nvPicPr>
          <p:cNvPr id="9" name="Picture 8" descr="image.png"/>
          <p:cNvPicPr>
            <a:picLocks noChangeAspect="1"/>
          </p:cNvPicPr>
          <p:nvPr/>
        </p:nvPicPr>
        <p:blipFill>
          <a:blip r:embed="rId7"/>
          <a:stretch>
            <a:fillRect/>
          </a:stretch>
        </p:blipFill>
        <p:spPr>
          <a:xfrm>
            <a:off x="5762476" y="2694533"/>
            <a:ext cx="666750" cy="666750"/>
          </a:xfrm>
          <a:prstGeom prst="rect">
            <a:avLst/>
          </a:prstGeom>
        </p:spPr>
      </p:pic>
      <p:sp>
        <p:nvSpPr>
          <p:cNvPr id="10" name="TextBox 9"/>
          <p:cNvSpPr txBox="1"/>
          <p:nvPr/>
        </p:nvSpPr>
        <p:spPr>
          <a:xfrm>
            <a:off x="5172450" y="3599408"/>
            <a:ext cx="1846949" cy="276225"/>
          </a:xfrm>
          <a:prstGeom prst="rect">
            <a:avLst/>
          </a:prstGeom>
          <a:noFill/>
        </p:spPr>
        <p:txBody>
          <a:bodyPr wrap="square" lIns="0" tIns="0" rIns="0" bIns="0" anchor="t">
            <a:spAutoFit/>
          </a:bodyPr>
          <a:lstStyle/>
          <a:p>
            <a:pPr algn="ctr"/>
            <a:r>
              <a:rPr sz="1800" b="0" i="0" u="none">
                <a:solidFill>
                  <a:srgbClr val="F8FAFC"/>
                </a:solidFill>
                <a:latin typeface="Urbanist SemiBold"/>
              </a:rPr>
              <a:t>Mục Tiêu Kết Nối</a:t>
            </a:r>
          </a:p>
        </p:txBody>
      </p:sp>
      <p:sp>
        <p:nvSpPr>
          <p:cNvPr id="11" name="TextBox 10"/>
          <p:cNvSpPr txBox="1"/>
          <p:nvPr/>
        </p:nvSpPr>
        <p:spPr>
          <a:xfrm>
            <a:off x="4568725" y="4018508"/>
            <a:ext cx="3054399" cy="1028700"/>
          </a:xfrm>
          <a:prstGeom prst="rect">
            <a:avLst/>
          </a:prstGeom>
          <a:noFill/>
        </p:spPr>
        <p:txBody>
          <a:bodyPr wrap="square" lIns="0" tIns="0" rIns="0" bIns="0" anchor="t">
            <a:spAutoFit/>
          </a:bodyPr>
          <a:lstStyle/>
          <a:p>
            <a:pPr algn="ctr">
              <a:lnSpc>
                <a:spcPts val="2025"/>
              </a:lnSpc>
            </a:pPr>
            <a:r>
              <a:rPr sz="1350" b="0" i="0" u="none">
                <a:solidFill>
                  <a:srgbClr val="CBD5E1"/>
                </a:solidFill>
                <a:latin typeface="Urbanist"/>
              </a:rPr>
              <a:t>Xây dựng môi trường số thuận tiện, đóng vai trò cầu nối tin cậy giữa khách hàng có nhu cầu và nhà cung cấp dịch vụ chuyên nghiệp.</a:t>
            </a:r>
          </a:p>
        </p:txBody>
      </p:sp>
      <p:pic>
        <p:nvPicPr>
          <p:cNvPr id="12" name="Picture 11" descr="image.png"/>
          <p:cNvPicPr>
            <a:picLocks noChangeAspect="1"/>
          </p:cNvPicPr>
          <p:nvPr/>
        </p:nvPicPr>
        <p:blipFill>
          <a:blip r:embed="rId8"/>
          <a:stretch>
            <a:fillRect/>
          </a:stretch>
        </p:blipFill>
        <p:spPr>
          <a:xfrm>
            <a:off x="9502675" y="2694533"/>
            <a:ext cx="666750" cy="666750"/>
          </a:xfrm>
          <a:prstGeom prst="rect">
            <a:avLst/>
          </a:prstGeom>
        </p:spPr>
      </p:pic>
      <p:sp>
        <p:nvSpPr>
          <p:cNvPr id="13" name="TextBox 12"/>
          <p:cNvSpPr txBox="1"/>
          <p:nvPr/>
        </p:nvSpPr>
        <p:spPr>
          <a:xfrm>
            <a:off x="8880778" y="3599408"/>
            <a:ext cx="1910395" cy="276225"/>
          </a:xfrm>
          <a:prstGeom prst="rect">
            <a:avLst/>
          </a:prstGeom>
          <a:noFill/>
        </p:spPr>
        <p:txBody>
          <a:bodyPr wrap="square" lIns="0" tIns="0" rIns="0" bIns="0" anchor="t">
            <a:spAutoFit/>
          </a:bodyPr>
          <a:lstStyle/>
          <a:p>
            <a:pPr algn="ctr"/>
            <a:r>
              <a:rPr sz="1800" b="0" i="0" u="none">
                <a:solidFill>
                  <a:srgbClr val="F8FAFC"/>
                </a:solidFill>
                <a:latin typeface="Urbanist SemiBold"/>
              </a:rPr>
              <a:t>Công Cụ Quản Lý</a:t>
            </a:r>
          </a:p>
        </p:txBody>
      </p:sp>
      <p:sp>
        <p:nvSpPr>
          <p:cNvPr id="14" name="TextBox 13"/>
          <p:cNvSpPr txBox="1"/>
          <p:nvPr/>
        </p:nvSpPr>
        <p:spPr>
          <a:xfrm>
            <a:off x="8308925" y="4018508"/>
            <a:ext cx="3054250" cy="1028700"/>
          </a:xfrm>
          <a:prstGeom prst="rect">
            <a:avLst/>
          </a:prstGeom>
          <a:noFill/>
        </p:spPr>
        <p:txBody>
          <a:bodyPr wrap="square" lIns="0" tIns="0" rIns="0" bIns="0" anchor="t">
            <a:spAutoFit/>
          </a:bodyPr>
          <a:lstStyle/>
          <a:p>
            <a:pPr algn="ctr">
              <a:lnSpc>
                <a:spcPts val="2025"/>
              </a:lnSpc>
            </a:pPr>
            <a:r>
              <a:rPr sz="1350" b="0" i="0" u="none">
                <a:solidFill>
                  <a:srgbClr val="CBD5E1"/>
                </a:solidFill>
                <a:latin typeface="Urbanist"/>
              </a:rPr>
              <a:t>Cung cấp cho đội ngũ thợ và ban quản trị công cụ đắc lực để quản lý đơn hàng, điều phối lịch làm việc và xử lý phản hồi hiệu quả.</a:t>
            </a:r>
          </a:p>
        </p:txBody>
      </p:sp>
      <p:pic>
        <p:nvPicPr>
          <p:cNvPr id="15" name="Picture 14" descr="image.png"/>
          <p:cNvPicPr>
            <a:picLocks noChangeAspect="1"/>
          </p:cNvPicPr>
          <p:nvPr/>
        </p:nvPicPr>
        <p:blipFill>
          <a:blip r:embed="rId9"/>
          <a:stretch>
            <a:fillRect/>
          </a:stretch>
        </p:blipFill>
        <p:spPr>
          <a:xfrm>
            <a:off x="2203400" y="2875508"/>
            <a:ext cx="304800" cy="304800"/>
          </a:xfrm>
          <a:prstGeom prst="rect">
            <a:avLst/>
          </a:prstGeom>
        </p:spPr>
      </p:pic>
      <p:pic>
        <p:nvPicPr>
          <p:cNvPr id="16" name="Picture 15" descr="image.png"/>
          <p:cNvPicPr>
            <a:picLocks noChangeAspect="1"/>
          </p:cNvPicPr>
          <p:nvPr/>
        </p:nvPicPr>
        <p:blipFill>
          <a:blip r:embed="rId10"/>
          <a:stretch>
            <a:fillRect/>
          </a:stretch>
        </p:blipFill>
        <p:spPr>
          <a:xfrm>
            <a:off x="5905351" y="2875508"/>
            <a:ext cx="381000" cy="304800"/>
          </a:xfrm>
          <a:prstGeom prst="rect">
            <a:avLst/>
          </a:prstGeom>
        </p:spPr>
      </p:pic>
      <p:pic>
        <p:nvPicPr>
          <p:cNvPr id="17" name="Picture 16" descr="image.png"/>
          <p:cNvPicPr>
            <a:picLocks noChangeAspect="1"/>
          </p:cNvPicPr>
          <p:nvPr/>
        </p:nvPicPr>
        <p:blipFill>
          <a:blip r:embed="rId11"/>
          <a:stretch>
            <a:fillRect/>
          </a:stretch>
        </p:blipFill>
        <p:spPr>
          <a:xfrm>
            <a:off x="9683650" y="2875508"/>
            <a:ext cx="304800" cy="304800"/>
          </a:xfrm>
          <a:prstGeom prst="rect">
            <a:avLst/>
          </a:prstGeom>
        </p:spPr>
      </p:pic>
      <p:sp>
        <p:nvSpPr>
          <p:cNvPr id="18" name="TextBox 17"/>
          <p:cNvSpPr txBox="1"/>
          <p:nvPr/>
        </p:nvSpPr>
        <p:spPr>
          <a:xfrm>
            <a:off x="581025" y="485775"/>
            <a:ext cx="6590823"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Lý Do Chọn Đề Tài &amp; Mục Tiêu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819150" y="1984920"/>
            <a:ext cx="5038725" cy="9144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ASP.NET Core MVC:</a:t>
            </a:r>
            <a:r>
              <a:rPr sz="1500" b="0" i="0" u="none">
                <a:solidFill>
                  <a:srgbClr val="CBD5E1"/>
                </a:solidFill>
                <a:latin typeface="Urbanist Medium"/>
              </a:rPr>
              <a:t> Framework đa nền tảng, tách biệt View, Model và Controller giúp dễ dàng phát triển và bảo trì.</a:t>
            </a:r>
          </a:p>
        </p:txBody>
      </p:sp>
      <p:sp>
        <p:nvSpPr>
          <p:cNvPr id="5" name="TextBox 4"/>
          <p:cNvSpPr txBox="1"/>
          <p:nvPr/>
        </p:nvSpPr>
        <p:spPr>
          <a:xfrm>
            <a:off x="819150" y="3204120"/>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Entity Framework Core:</a:t>
            </a:r>
            <a:r>
              <a:rPr sz="1500" b="0" i="0" u="none">
                <a:solidFill>
                  <a:srgbClr val="CBD5E1"/>
                </a:solidFill>
                <a:latin typeface="Urbanist Medium"/>
              </a:rPr>
              <a:t> Công cụ ORM mạnh mẽ giúp thao tác CSDL thông qua các đối tượng C# một cách trực quan.</a:t>
            </a:r>
          </a:p>
        </p:txBody>
      </p:sp>
      <p:sp>
        <p:nvSpPr>
          <p:cNvPr id="6" name="TextBox 5"/>
          <p:cNvSpPr txBox="1"/>
          <p:nvPr/>
        </p:nvSpPr>
        <p:spPr>
          <a:xfrm>
            <a:off x="819150" y="4118520"/>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ASP.NET Core Identity:</a:t>
            </a:r>
            <a:r>
              <a:rPr sz="1500" b="0" i="0" u="none">
                <a:solidFill>
                  <a:srgbClr val="CBD5E1"/>
                </a:solidFill>
                <a:latin typeface="Urbanist Medium"/>
              </a:rPr>
              <a:t> Giải pháp quản lý người dùng, xác thực, phân quyền và bảo mật toàn diện cho ứng dụng.</a:t>
            </a:r>
          </a:p>
        </p:txBody>
      </p:sp>
      <p:sp>
        <p:nvSpPr>
          <p:cNvPr id="7" name="TextBox 6"/>
          <p:cNvSpPr txBox="1"/>
          <p:nvPr/>
        </p:nvSpPr>
        <p:spPr>
          <a:xfrm>
            <a:off x="819150" y="5032920"/>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Frontend UI:</a:t>
            </a:r>
            <a:r>
              <a:rPr sz="1500" b="0" i="0" u="none">
                <a:solidFill>
                  <a:srgbClr val="CBD5E1"/>
                </a:solidFill>
                <a:latin typeface="Urbanist Medium"/>
              </a:rPr>
              <a:t> Tích hợp Bootstrap, HTML5, CSS3 đảm bảo giao diện Responsive tương thích trên mọi thiết bị.</a:t>
            </a:r>
          </a:p>
        </p:txBody>
      </p:sp>
      <p:sp>
        <p:nvSpPr>
          <p:cNvPr id="8" name="TextBox 7"/>
          <p:cNvSpPr txBox="1"/>
          <p:nvPr/>
        </p:nvSpPr>
        <p:spPr>
          <a:xfrm>
            <a:off x="581025" y="2003970"/>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9" name="TextBox 8"/>
          <p:cNvSpPr txBox="1"/>
          <p:nvPr/>
        </p:nvSpPr>
        <p:spPr>
          <a:xfrm>
            <a:off x="581025" y="3223170"/>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4137570"/>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5051970"/>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485775"/>
            <a:ext cx="4060820"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Công Nghệ </a:t>
            </a:r>
            <a:r>
              <a:rPr sz="3600" b="1" i="0" u="none">
                <a:solidFill>
                  <a:srgbClr val="34D399"/>
                </a:solidFill>
                <a:latin typeface="Urbanist"/>
              </a:rPr>
              <a:t>Cốt Lõi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14208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Mô hình MVC trong ASP.NET Core</a:t>
            </a:r>
          </a:p>
        </p:txBody>
      </p:sp>
      <p:pic>
        <p:nvPicPr>
          <p:cNvPr id="4" name="Picture 3" descr="image.png"/>
          <p:cNvPicPr>
            <a:picLocks noChangeAspect="1"/>
          </p:cNvPicPr>
          <p:nvPr/>
        </p:nvPicPr>
        <p:blipFill>
          <a:blip r:embed="rId3"/>
          <a:stretch>
            <a:fillRect/>
          </a:stretch>
        </p:blipFill>
        <p:spPr>
          <a:xfrm>
            <a:off x="6334125" y="2077045"/>
            <a:ext cx="5276850" cy="3587650"/>
          </a:xfrm>
          <a:prstGeom prst="rect">
            <a:avLst/>
          </a:prstGeom>
        </p:spPr>
      </p:pic>
      <p:sp>
        <p:nvSpPr>
          <p:cNvPr id="5" name="TextBox 4"/>
          <p:cNvSpPr txBox="1"/>
          <p:nvPr/>
        </p:nvSpPr>
        <p:spPr>
          <a:xfrm>
            <a:off x="819150" y="270405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View:</a:t>
            </a:r>
            <a:r>
              <a:rPr sz="1500" b="0" i="0" u="none">
                <a:solidFill>
                  <a:srgbClr val="CBD5E1"/>
                </a:solidFill>
                <a:latin typeface="Urbanist Medium"/>
              </a:rPr>
              <a:t> Đảm nhiệm việc hiển thị dữ liệu trực quan và giao tiếp với người dùng.</a:t>
            </a:r>
          </a:p>
        </p:txBody>
      </p:sp>
      <p:sp>
        <p:nvSpPr>
          <p:cNvPr id="6" name="TextBox 5"/>
          <p:cNvSpPr txBox="1"/>
          <p:nvPr/>
        </p:nvSpPr>
        <p:spPr>
          <a:xfrm>
            <a:off x="819150" y="342795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Controller:</a:t>
            </a:r>
            <a:r>
              <a:rPr sz="1500" b="0" i="0" u="none">
                <a:solidFill>
                  <a:srgbClr val="CBD5E1"/>
                </a:solidFill>
                <a:latin typeface="Urbanist Medium"/>
              </a:rPr>
              <a:t> Trái tim của ứng dụng, nhận yêu cầu, điều phối xử lý và chỉ đạo dữ liệu.</a:t>
            </a:r>
          </a:p>
        </p:txBody>
      </p:sp>
      <p:sp>
        <p:nvSpPr>
          <p:cNvPr id="7" name="TextBox 6"/>
          <p:cNvSpPr txBox="1"/>
          <p:nvPr/>
        </p:nvSpPr>
        <p:spPr>
          <a:xfrm>
            <a:off x="819150" y="415185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Model:</a:t>
            </a:r>
            <a:r>
              <a:rPr sz="1500" b="0" i="0" u="none">
                <a:solidFill>
                  <a:srgbClr val="CBD5E1"/>
                </a:solidFill>
                <a:latin typeface="Urbanist Medium"/>
              </a:rPr>
              <a:t> Đại diện cho cấu trúc dữ liệu và các quy tắc nghiệp vụ cốt lõi.</a:t>
            </a:r>
          </a:p>
        </p:txBody>
      </p:sp>
      <p:sp>
        <p:nvSpPr>
          <p:cNvPr id="8" name="TextBox 7"/>
          <p:cNvSpPr txBox="1"/>
          <p:nvPr/>
        </p:nvSpPr>
        <p:spPr>
          <a:xfrm>
            <a:off x="819150" y="48757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Kiến trúc này đảm bảo tính module hóa cao, dễ dàng bảo trì và mở rộng hệ thống trong tương lai.</a:t>
            </a:r>
          </a:p>
        </p:txBody>
      </p:sp>
      <p:sp>
        <p:nvSpPr>
          <p:cNvPr id="9" name="TextBox 8"/>
          <p:cNvSpPr txBox="1"/>
          <p:nvPr/>
        </p:nvSpPr>
        <p:spPr>
          <a:xfrm>
            <a:off x="581025" y="27231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34470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41709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48948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85775"/>
            <a:ext cx="3237435"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Kiến Trúc </a:t>
            </a:r>
            <a:r>
              <a:rPr sz="3600" b="1" i="0" u="none">
                <a:solidFill>
                  <a:srgbClr val="34D399"/>
                </a:solidFill>
                <a:latin typeface="Urbanist"/>
              </a:rPr>
              <a:t>MVC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178013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Các Bảng Dữ Liệu Chính</a:t>
            </a:r>
          </a:p>
        </p:txBody>
      </p:sp>
      <p:pic>
        <p:nvPicPr>
          <p:cNvPr id="4" name="Picture 3" descr="image.png"/>
          <p:cNvPicPr>
            <a:picLocks noChangeAspect="1"/>
          </p:cNvPicPr>
          <p:nvPr/>
        </p:nvPicPr>
        <p:blipFill>
          <a:blip r:embed="rId3"/>
          <a:stretch>
            <a:fillRect/>
          </a:stretch>
        </p:blipFill>
        <p:spPr>
          <a:xfrm>
            <a:off x="6334125" y="2340917"/>
            <a:ext cx="5276850" cy="3059906"/>
          </a:xfrm>
          <a:prstGeom prst="rect">
            <a:avLst/>
          </a:prstGeom>
        </p:spPr>
      </p:pic>
      <p:sp>
        <p:nvSpPr>
          <p:cNvPr id="5" name="TextBox 4"/>
          <p:cNvSpPr txBox="1"/>
          <p:nvPr/>
        </p:nvSpPr>
        <p:spPr>
          <a:xfrm>
            <a:off x="819150" y="23421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Users:</a:t>
            </a:r>
            <a:r>
              <a:rPr sz="1500" b="0" i="0" u="none">
                <a:solidFill>
                  <a:srgbClr val="CBD5E1"/>
                </a:solidFill>
                <a:latin typeface="Urbanist Medium"/>
              </a:rPr>
              <a:t> Quản lý thông tin tài khoản, phân quyền và bảo mật người dùng.</a:t>
            </a:r>
          </a:p>
        </p:txBody>
      </p:sp>
      <p:sp>
        <p:nvSpPr>
          <p:cNvPr id="6" name="TextBox 5"/>
          <p:cNvSpPr txBox="1"/>
          <p:nvPr/>
        </p:nvSpPr>
        <p:spPr>
          <a:xfrm>
            <a:off x="819150" y="30660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PricingSettings:</a:t>
            </a:r>
            <a:r>
              <a:rPr sz="1500" b="0" i="0" u="none">
                <a:solidFill>
                  <a:srgbClr val="CBD5E1"/>
                </a:solidFill>
                <a:latin typeface="Urbanist Medium"/>
              </a:rPr>
              <a:t> Lưu trữ danh mục dịch vụ và hệ thống giá cả tham khảo.</a:t>
            </a:r>
          </a:p>
        </p:txBody>
      </p:sp>
      <p:sp>
        <p:nvSpPr>
          <p:cNvPr id="7" name="TextBox 6"/>
          <p:cNvSpPr txBox="1"/>
          <p:nvPr/>
        </p:nvSpPr>
        <p:spPr>
          <a:xfrm>
            <a:off x="819150" y="37899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Bookings:</a:t>
            </a:r>
            <a:r>
              <a:rPr sz="1500" b="0" i="0" u="none">
                <a:solidFill>
                  <a:srgbClr val="CBD5E1"/>
                </a:solidFill>
                <a:latin typeface="Urbanist Medium"/>
              </a:rPr>
              <a:t> Bảng trung tâm lưu trữ đơn đặt lịch và trạng thái xử lý.</a:t>
            </a:r>
          </a:p>
        </p:txBody>
      </p:sp>
      <p:sp>
        <p:nvSpPr>
          <p:cNvPr id="8" name="TextBox 7"/>
          <p:cNvSpPr txBox="1"/>
          <p:nvPr/>
        </p:nvSpPr>
        <p:spPr>
          <a:xfrm>
            <a:off x="819150" y="45138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Reviews:</a:t>
            </a:r>
            <a:r>
              <a:rPr sz="1500" b="0" i="0" u="none">
                <a:solidFill>
                  <a:srgbClr val="CBD5E1"/>
                </a:solidFill>
                <a:latin typeface="Urbanist Medium"/>
              </a:rPr>
              <a:t> Hệ thống quản lý đánh giá minh bạch từ khách hàng.</a:t>
            </a:r>
          </a:p>
        </p:txBody>
      </p:sp>
      <p:sp>
        <p:nvSpPr>
          <p:cNvPr id="9" name="TextBox 8"/>
          <p:cNvSpPr txBox="1"/>
          <p:nvPr/>
        </p:nvSpPr>
        <p:spPr>
          <a:xfrm>
            <a:off x="819150" y="52377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CSDL sử dụng các khóa ngoại chặt chẽ để đảm bảo tính toàn vẹn dữ liệu.</a:t>
            </a:r>
          </a:p>
        </p:txBody>
      </p:sp>
      <p:sp>
        <p:nvSpPr>
          <p:cNvPr id="10" name="TextBox 9"/>
          <p:cNvSpPr txBox="1"/>
          <p:nvPr/>
        </p:nvSpPr>
        <p:spPr>
          <a:xfrm>
            <a:off x="581025" y="23611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30850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38089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5328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4" name="TextBox 13"/>
          <p:cNvSpPr txBox="1"/>
          <p:nvPr/>
        </p:nvSpPr>
        <p:spPr>
          <a:xfrm>
            <a:off x="581025" y="52567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5" name="TextBox 14"/>
          <p:cNvSpPr txBox="1"/>
          <p:nvPr/>
        </p:nvSpPr>
        <p:spPr>
          <a:xfrm>
            <a:off x="581025" y="485775"/>
            <a:ext cx="5831041"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Tổng Quan </a:t>
            </a:r>
            <a:r>
              <a:rPr sz="3600" b="1" i="0" u="none">
                <a:solidFill>
                  <a:srgbClr val="34D399"/>
                </a:solidFill>
                <a:latin typeface="Urbanist"/>
              </a:rPr>
              <a:t>Cơ Sở Dữ Liệu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50403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Các Tác Nhân (Actors) Chính</a:t>
            </a:r>
          </a:p>
        </p:txBody>
      </p:sp>
      <p:pic>
        <p:nvPicPr>
          <p:cNvPr id="4" name="Picture 3" descr="image.png"/>
          <p:cNvPicPr>
            <a:picLocks noChangeAspect="1"/>
          </p:cNvPicPr>
          <p:nvPr/>
        </p:nvPicPr>
        <p:blipFill>
          <a:blip r:embed="rId3"/>
          <a:stretch>
            <a:fillRect/>
          </a:stretch>
        </p:blipFill>
        <p:spPr>
          <a:xfrm>
            <a:off x="6334125" y="1885205"/>
            <a:ext cx="5276850" cy="3971478"/>
          </a:xfrm>
          <a:prstGeom prst="rect">
            <a:avLst/>
          </a:prstGeom>
        </p:spPr>
      </p:pic>
      <p:sp>
        <p:nvSpPr>
          <p:cNvPr id="5" name="TextBox 4"/>
          <p:cNvSpPr txBox="1"/>
          <p:nvPr/>
        </p:nvSpPr>
        <p:spPr>
          <a:xfrm>
            <a:off x="819150" y="30660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Khách Vãng Lai (Guest):</a:t>
            </a:r>
            <a:r>
              <a:rPr sz="1500" b="0" i="0" u="none">
                <a:solidFill>
                  <a:srgbClr val="CBD5E1"/>
                </a:solidFill>
                <a:latin typeface="Urbanist Medium"/>
              </a:rPr>
              <a:t> Người dùng chưa đăng nhập, có thể xem dịch vụ và tìm kiếm thông tin cơ bản.</a:t>
            </a:r>
          </a:p>
        </p:txBody>
      </p:sp>
      <p:sp>
        <p:nvSpPr>
          <p:cNvPr id="6" name="TextBox 5"/>
          <p:cNvSpPr txBox="1"/>
          <p:nvPr/>
        </p:nvSpPr>
        <p:spPr>
          <a:xfrm>
            <a:off x="819150" y="37899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Khách Hàng (User):</a:t>
            </a:r>
            <a:r>
              <a:rPr sz="1500" b="0" i="0" u="none">
                <a:solidFill>
                  <a:srgbClr val="CBD5E1"/>
                </a:solidFill>
                <a:latin typeface="Urbanist Medium"/>
              </a:rPr>
              <a:t> Người dùng đã xác thực, có quyền đặt lịch, theo dõi tiến độ và đánh giá dịch vụ.</a:t>
            </a:r>
          </a:p>
        </p:txBody>
      </p:sp>
      <p:sp>
        <p:nvSpPr>
          <p:cNvPr id="7" name="TextBox 6"/>
          <p:cNvSpPr txBox="1"/>
          <p:nvPr/>
        </p:nvSpPr>
        <p:spPr>
          <a:xfrm>
            <a:off x="819150" y="4513808"/>
            <a:ext cx="5038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Quản Trị Viên (Admin):</a:t>
            </a:r>
            <a:r>
              <a:rPr sz="1500" b="0" i="0" u="none">
                <a:solidFill>
                  <a:srgbClr val="CBD5E1"/>
                </a:solidFill>
                <a:latin typeface="Urbanist Medium"/>
              </a:rPr>
              <a:t> Người có quyền lực cao nhất, quản lý toàn bộ hệ thống, đơn hàng, bảng giá và người dùng.</a:t>
            </a:r>
          </a:p>
        </p:txBody>
      </p:sp>
      <p:sp>
        <p:nvSpPr>
          <p:cNvPr id="8" name="TextBox 7"/>
          <p:cNvSpPr txBox="1"/>
          <p:nvPr/>
        </p:nvSpPr>
        <p:spPr>
          <a:xfrm>
            <a:off x="581025" y="30850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9" name="TextBox 8"/>
          <p:cNvSpPr txBox="1"/>
          <p:nvPr/>
        </p:nvSpPr>
        <p:spPr>
          <a:xfrm>
            <a:off x="581025" y="38089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45328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485775"/>
            <a:ext cx="6452837"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Lược Đồ </a:t>
            </a:r>
            <a:r>
              <a:rPr sz="3600" b="1" i="0" u="none">
                <a:solidFill>
                  <a:srgbClr val="34D399"/>
                </a:solidFill>
                <a:latin typeface="Urbanist"/>
              </a:rPr>
              <a:t>Usecase</a:t>
            </a:r>
            <a:r>
              <a:rPr sz="3600" b="1" i="0" u="none">
                <a:solidFill>
                  <a:srgbClr val="F8FAFC"/>
                </a:solidFill>
                <a:latin typeface="Urbanist"/>
              </a:rPr>
              <a:t> Tổng Quan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08493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Quy Trình Của Người Dùng</a:t>
            </a:r>
          </a:p>
        </p:txBody>
      </p:sp>
      <p:pic>
        <p:nvPicPr>
          <p:cNvPr id="4" name="Picture 3" descr="image.png"/>
          <p:cNvPicPr>
            <a:picLocks noChangeAspect="1"/>
          </p:cNvPicPr>
          <p:nvPr/>
        </p:nvPicPr>
        <p:blipFill>
          <a:blip r:embed="rId3"/>
          <a:stretch>
            <a:fillRect/>
          </a:stretch>
        </p:blipFill>
        <p:spPr>
          <a:xfrm>
            <a:off x="6334125" y="1489620"/>
            <a:ext cx="5276850" cy="4762500"/>
          </a:xfrm>
          <a:prstGeom prst="rect">
            <a:avLst/>
          </a:prstGeom>
        </p:spPr>
      </p:pic>
      <p:sp>
        <p:nvSpPr>
          <p:cNvPr id="5" name="TextBox 4"/>
          <p:cNvSpPr txBox="1"/>
          <p:nvPr/>
        </p:nvSpPr>
        <p:spPr>
          <a:xfrm>
            <a:off x="819150" y="2646908"/>
            <a:ext cx="50387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Đăng ký, đăng nhập và quản lý thông tin tài khoản cá nhân.</a:t>
            </a:r>
          </a:p>
        </p:txBody>
      </p:sp>
      <p:sp>
        <p:nvSpPr>
          <p:cNvPr id="6" name="TextBox 5"/>
          <p:cNvSpPr txBox="1"/>
          <p:nvPr/>
        </p:nvSpPr>
        <p:spPr>
          <a:xfrm>
            <a:off x="819150" y="30660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Sử dụng bộ lọc tìm kiếm nâng cao theo khu vực và loại dịch vụ.</a:t>
            </a:r>
          </a:p>
        </p:txBody>
      </p:sp>
      <p:sp>
        <p:nvSpPr>
          <p:cNvPr id="7" name="TextBox 6"/>
          <p:cNvSpPr txBox="1"/>
          <p:nvPr/>
        </p:nvSpPr>
        <p:spPr>
          <a:xfrm>
            <a:off x="819150" y="37899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Thực hiện quy trình đặt lịch sửa chữa với các thông tin chi tiết.</a:t>
            </a:r>
          </a:p>
        </p:txBody>
      </p:sp>
      <p:sp>
        <p:nvSpPr>
          <p:cNvPr id="8" name="TextBox 7"/>
          <p:cNvSpPr txBox="1"/>
          <p:nvPr/>
        </p:nvSpPr>
        <p:spPr>
          <a:xfrm>
            <a:off x="819150" y="45138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Tra cứu trạng thái đơn hàng hiện tại và xem lại lịch sử giao dịch.</a:t>
            </a:r>
          </a:p>
        </p:txBody>
      </p:sp>
      <p:sp>
        <p:nvSpPr>
          <p:cNvPr id="9" name="TextBox 8"/>
          <p:cNvSpPr txBox="1"/>
          <p:nvPr/>
        </p:nvSpPr>
        <p:spPr>
          <a:xfrm>
            <a:off x="819150" y="5237708"/>
            <a:ext cx="50387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Tham gia đánh giá chất lượng dịch vụ sau khi hoàn thành.</a:t>
            </a:r>
          </a:p>
        </p:txBody>
      </p:sp>
      <p:sp>
        <p:nvSpPr>
          <p:cNvPr id="10" name="TextBox 9"/>
          <p:cNvSpPr txBox="1"/>
          <p:nvPr/>
        </p:nvSpPr>
        <p:spPr>
          <a:xfrm>
            <a:off x="581025" y="26659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30850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38089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5328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4" name="TextBox 13"/>
          <p:cNvSpPr txBox="1"/>
          <p:nvPr/>
        </p:nvSpPr>
        <p:spPr>
          <a:xfrm>
            <a:off x="581025" y="52567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5" name="TextBox 14"/>
          <p:cNvSpPr txBox="1"/>
          <p:nvPr/>
        </p:nvSpPr>
        <p:spPr>
          <a:xfrm>
            <a:off x="581025" y="485775"/>
            <a:ext cx="4550568"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Usecase </a:t>
            </a:r>
            <a:r>
              <a:rPr sz="3600" b="1" i="0" u="none">
                <a:solidFill>
                  <a:srgbClr val="34D399"/>
                </a:solidFill>
                <a:latin typeface="Urbanist"/>
              </a:rPr>
              <a:t>Khách Hàng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178013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Nghiệp Vụ Quản Trị Hệ Thống</a:t>
            </a:r>
          </a:p>
        </p:txBody>
      </p:sp>
      <p:pic>
        <p:nvPicPr>
          <p:cNvPr id="4" name="Picture 3" descr="image.png"/>
          <p:cNvPicPr>
            <a:picLocks noChangeAspect="1"/>
          </p:cNvPicPr>
          <p:nvPr/>
        </p:nvPicPr>
        <p:blipFill>
          <a:blip r:embed="rId3"/>
          <a:stretch>
            <a:fillRect/>
          </a:stretch>
        </p:blipFill>
        <p:spPr>
          <a:xfrm>
            <a:off x="6334125" y="2077045"/>
            <a:ext cx="5276850" cy="3587650"/>
          </a:xfrm>
          <a:prstGeom prst="rect">
            <a:avLst/>
          </a:prstGeom>
        </p:spPr>
      </p:pic>
      <p:sp>
        <p:nvSpPr>
          <p:cNvPr id="5" name="TextBox 4"/>
          <p:cNvSpPr txBox="1"/>
          <p:nvPr/>
        </p:nvSpPr>
        <p:spPr>
          <a:xfrm>
            <a:off x="819150" y="23421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Hệ thống kiểm tra quyền truy cập nghiêm ngặt (Admin Authorization).</a:t>
            </a:r>
          </a:p>
        </p:txBody>
      </p:sp>
      <p:sp>
        <p:nvSpPr>
          <p:cNvPr id="6" name="TextBox 5"/>
          <p:cNvSpPr txBox="1"/>
          <p:nvPr/>
        </p:nvSpPr>
        <p:spPr>
          <a:xfrm>
            <a:off x="819150" y="30660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Truy cập Dashboard thống kê doanh thu và trạng thái đơn hàng trực quan.</a:t>
            </a:r>
          </a:p>
        </p:txBody>
      </p:sp>
      <p:sp>
        <p:nvSpPr>
          <p:cNvPr id="7" name="TextBox 6"/>
          <p:cNvSpPr txBox="1"/>
          <p:nvPr/>
        </p:nvSpPr>
        <p:spPr>
          <a:xfrm>
            <a:off x="819150" y="37899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Cập nhật tiến độ đơn hàng, phân công thợ và thêm ghi chú nội bộ.</a:t>
            </a:r>
          </a:p>
        </p:txBody>
      </p:sp>
      <p:sp>
        <p:nvSpPr>
          <p:cNvPr id="8" name="TextBox 7"/>
          <p:cNvSpPr txBox="1"/>
          <p:nvPr/>
        </p:nvSpPr>
        <p:spPr>
          <a:xfrm>
            <a:off x="819150" y="45138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Kiểm duyệt (cho phép ẩn/hiện) và phản hồi các đánh giá từ khách.</a:t>
            </a:r>
          </a:p>
        </p:txBody>
      </p:sp>
      <p:sp>
        <p:nvSpPr>
          <p:cNvPr id="9" name="TextBox 8"/>
          <p:cNvSpPr txBox="1"/>
          <p:nvPr/>
        </p:nvSpPr>
        <p:spPr>
          <a:xfrm>
            <a:off x="819150" y="523770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Quản lý dữ liệu người dùng và linh hoạt thiết lập bảng giá dịch vụ.</a:t>
            </a:r>
          </a:p>
        </p:txBody>
      </p:sp>
      <p:sp>
        <p:nvSpPr>
          <p:cNvPr id="10" name="TextBox 9"/>
          <p:cNvSpPr txBox="1"/>
          <p:nvPr/>
        </p:nvSpPr>
        <p:spPr>
          <a:xfrm>
            <a:off x="581025" y="23611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30850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38089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5328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4" name="TextBox 13"/>
          <p:cNvSpPr txBox="1"/>
          <p:nvPr/>
        </p:nvSpPr>
        <p:spPr>
          <a:xfrm>
            <a:off x="581025" y="525675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5" name="TextBox 14"/>
          <p:cNvSpPr txBox="1"/>
          <p:nvPr/>
        </p:nvSpPr>
        <p:spPr>
          <a:xfrm>
            <a:off x="581025" y="485775"/>
            <a:ext cx="4900925"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Usecase </a:t>
            </a:r>
            <a:r>
              <a:rPr sz="3600" b="1" i="0" u="none">
                <a:solidFill>
                  <a:srgbClr val="34D399"/>
                </a:solidFill>
                <a:latin typeface="Urbanist"/>
              </a:rPr>
              <a:t>Quản Trị Viên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398240" y="3208883"/>
            <a:ext cx="3308895" cy="952500"/>
          </a:xfrm>
          <a:prstGeom prst="rect">
            <a:avLst/>
          </a:prstGeom>
          <a:noFill/>
        </p:spPr>
        <p:txBody>
          <a:bodyPr wrap="square" lIns="0" tIns="0" rIns="0" bIns="0" anchor="t">
            <a:spAutoFit/>
          </a:bodyPr>
          <a:lstStyle/>
          <a:p>
            <a:pPr algn="r">
              <a:lnSpc>
                <a:spcPts val="7500"/>
              </a:lnSpc>
            </a:pPr>
            <a:r>
              <a:rPr sz="7500" b="1" i="0" u="none">
                <a:solidFill>
                  <a:srgbClr val="34D399"/>
                </a:solidFill>
                <a:latin typeface="Urbanist"/>
              </a:rPr>
              <a:t>N-Tier</a:t>
            </a:r>
          </a:p>
        </p:txBody>
      </p:sp>
      <p:sp>
        <p:nvSpPr>
          <p:cNvPr id="4" name="TextBox 3"/>
          <p:cNvSpPr txBox="1"/>
          <p:nvPr/>
        </p:nvSpPr>
        <p:spPr>
          <a:xfrm>
            <a:off x="1398240" y="4256633"/>
            <a:ext cx="3308895" cy="276225"/>
          </a:xfrm>
          <a:prstGeom prst="rect">
            <a:avLst/>
          </a:prstGeom>
          <a:noFill/>
        </p:spPr>
        <p:txBody>
          <a:bodyPr wrap="square" lIns="0" tIns="0" rIns="0" bIns="0" anchor="t">
            <a:spAutoFit/>
          </a:bodyPr>
          <a:lstStyle/>
          <a:p>
            <a:pPr algn="r"/>
            <a:r>
              <a:rPr sz="1800" b="0" i="0" u="none">
                <a:solidFill>
                  <a:srgbClr val="818CF8"/>
                </a:solidFill>
                <a:latin typeface="Urbanist SemiBold"/>
              </a:rPr>
              <a:t>Architecture</a:t>
            </a:r>
          </a:p>
        </p:txBody>
      </p:sp>
      <p:sp>
        <p:nvSpPr>
          <p:cNvPr id="5" name="TextBox 4"/>
          <p:cNvSpPr txBox="1"/>
          <p:nvPr/>
        </p:nvSpPr>
        <p:spPr>
          <a:xfrm>
            <a:off x="5278635" y="2165895"/>
            <a:ext cx="5790723" cy="323850"/>
          </a:xfrm>
          <a:prstGeom prst="rect">
            <a:avLst/>
          </a:prstGeom>
          <a:noFill/>
        </p:spPr>
        <p:txBody>
          <a:bodyPr wrap="square" lIns="0" tIns="0" rIns="0" bIns="0" anchor="t">
            <a:spAutoFit/>
          </a:bodyPr>
          <a:lstStyle/>
          <a:p>
            <a:pPr algn="l"/>
            <a:r>
              <a:rPr sz="2100" b="0" i="0" u="none">
                <a:solidFill>
                  <a:srgbClr val="818CF8"/>
                </a:solidFill>
                <a:latin typeface="Urbanist SemiBold"/>
              </a:rPr>
              <a:t>Kiến Trúc Phân Tầng Hiện Đại</a:t>
            </a:r>
          </a:p>
        </p:txBody>
      </p:sp>
      <p:sp>
        <p:nvSpPr>
          <p:cNvPr id="6" name="TextBox 5"/>
          <p:cNvSpPr txBox="1"/>
          <p:nvPr/>
        </p:nvSpPr>
        <p:spPr>
          <a:xfrm>
            <a:off x="5516760" y="2680245"/>
            <a:ext cx="5276850"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Client Tier:</a:t>
            </a:r>
            <a:r>
              <a:rPr sz="1500" b="0" i="0" u="none">
                <a:solidFill>
                  <a:srgbClr val="CBD5E1"/>
                </a:solidFill>
                <a:latin typeface="Urbanist Medium"/>
              </a:rPr>
              <a:t> Trình duyệt web giao tiếp bảo mật qua HTTP/HTTPS.</a:t>
            </a:r>
          </a:p>
        </p:txBody>
      </p:sp>
      <p:sp>
        <p:nvSpPr>
          <p:cNvPr id="7" name="TextBox 6"/>
          <p:cNvSpPr txBox="1"/>
          <p:nvPr/>
        </p:nvSpPr>
        <p:spPr>
          <a:xfrm>
            <a:off x="5516760" y="3404145"/>
            <a:ext cx="5276850"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Application Tier:</a:t>
            </a:r>
            <a:r>
              <a:rPr sz="1500" b="0" i="0" u="none">
                <a:solidFill>
                  <a:srgbClr val="CBD5E1"/>
                </a:solidFill>
                <a:latin typeface="Urbanist Medium"/>
              </a:rPr>
              <a:t> Framework ASP.NET Core 9.0 xử lý routing, logic nghiệp vụ.</a:t>
            </a:r>
          </a:p>
        </p:txBody>
      </p:sp>
      <p:sp>
        <p:nvSpPr>
          <p:cNvPr id="8" name="TextBox 7"/>
          <p:cNvSpPr txBox="1"/>
          <p:nvPr/>
        </p:nvSpPr>
        <p:spPr>
          <a:xfrm>
            <a:off x="5516760" y="4128045"/>
            <a:ext cx="5276850"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Identity &amp; Security:</a:t>
            </a:r>
            <a:r>
              <a:rPr sz="1500" b="0" i="0" u="none">
                <a:solidFill>
                  <a:srgbClr val="CBD5E1"/>
                </a:solidFill>
                <a:latin typeface="Urbanist Medium"/>
              </a:rPr>
              <a:t> Lớp chuyên trách xử lý Authentication và Authorization độc lập.</a:t>
            </a:r>
          </a:p>
        </p:txBody>
      </p:sp>
      <p:sp>
        <p:nvSpPr>
          <p:cNvPr id="9" name="TextBox 8"/>
          <p:cNvSpPr txBox="1"/>
          <p:nvPr/>
        </p:nvSpPr>
        <p:spPr>
          <a:xfrm>
            <a:off x="5516760" y="4851945"/>
            <a:ext cx="5276850"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Urbanist"/>
              </a:rPr>
              <a:t>Data Tier:</a:t>
            </a:r>
            <a:r>
              <a:rPr sz="1500" b="0" i="0" u="none">
                <a:solidFill>
                  <a:srgbClr val="CBD5E1"/>
                </a:solidFill>
                <a:latin typeface="Urbanist Medium"/>
              </a:rPr>
              <a:t> Hệ quản trị CSDL SQL Server kết nối mạnh mẽ thông qua EF Core.</a:t>
            </a:r>
          </a:p>
        </p:txBody>
      </p:sp>
      <p:sp>
        <p:nvSpPr>
          <p:cNvPr id="10" name="TextBox 9"/>
          <p:cNvSpPr txBox="1"/>
          <p:nvPr/>
        </p:nvSpPr>
        <p:spPr>
          <a:xfrm>
            <a:off x="5278635" y="2699295"/>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278635" y="3423195"/>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278635" y="4147095"/>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278635" y="4870995"/>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4" name="TextBox 13"/>
          <p:cNvSpPr txBox="1"/>
          <p:nvPr/>
        </p:nvSpPr>
        <p:spPr>
          <a:xfrm>
            <a:off x="581025" y="485775"/>
            <a:ext cx="4247718"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Kiến Trúc </a:t>
            </a:r>
            <a:r>
              <a:rPr sz="3600" b="1" i="0" u="none">
                <a:solidFill>
                  <a:srgbClr val="34D399"/>
                </a:solidFill>
                <a:latin typeface="Urbanist"/>
              </a:rPr>
              <a:t>Hệ Thống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14208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Thiết Kế Trực Quan &amp; Thân Thiện</a:t>
            </a:r>
          </a:p>
        </p:txBody>
      </p:sp>
      <p:sp>
        <p:nvSpPr>
          <p:cNvPr id="5" name="TextBox 4"/>
          <p:cNvSpPr txBox="1"/>
          <p:nvPr/>
        </p:nvSpPr>
        <p:spPr>
          <a:xfrm>
            <a:off x="819150" y="27040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Giao diện mở đầu nổi bật với Banner trình bày các dịch vụ chính.</a:t>
            </a:r>
          </a:p>
        </p:txBody>
      </p:sp>
      <p:sp>
        <p:nvSpPr>
          <p:cNvPr id="6" name="TextBox 5"/>
          <p:cNvSpPr txBox="1"/>
          <p:nvPr/>
        </p:nvSpPr>
        <p:spPr>
          <a:xfrm>
            <a:off x="819150" y="34279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Hiển thị rõ ràng các danh mục dịch vụ sửa chữa phổ biến (Điện, Nước, Chống Thấm, vv.).</a:t>
            </a:r>
          </a:p>
        </p:txBody>
      </p:sp>
      <p:sp>
        <p:nvSpPr>
          <p:cNvPr id="7" name="TextBox 6"/>
          <p:cNvSpPr txBox="1"/>
          <p:nvPr/>
        </p:nvSpPr>
        <p:spPr>
          <a:xfrm>
            <a:off x="819150" y="41518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Bố trí các nút Call-to-Action (Đặt Lịch, Tra Cứu) ở vị trí dễ tiếp cận.</a:t>
            </a:r>
          </a:p>
        </p:txBody>
      </p:sp>
      <p:sp>
        <p:nvSpPr>
          <p:cNvPr id="8" name="TextBox 7"/>
          <p:cNvSpPr txBox="1"/>
          <p:nvPr/>
        </p:nvSpPr>
        <p:spPr>
          <a:xfrm>
            <a:off x="819150" y="48757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Đảm bảo trải nghiệm UI/UX mượt mà, Responsive hoàn hảo trên di động và PC.</a:t>
            </a:r>
          </a:p>
        </p:txBody>
      </p:sp>
      <p:sp>
        <p:nvSpPr>
          <p:cNvPr id="9" name="TextBox 8"/>
          <p:cNvSpPr txBox="1"/>
          <p:nvPr/>
        </p:nvSpPr>
        <p:spPr>
          <a:xfrm>
            <a:off x="581025" y="27231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34470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41709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48948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85775"/>
            <a:ext cx="4550881"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Giao Diện </a:t>
            </a:r>
            <a:r>
              <a:rPr sz="3600" b="1" i="0" u="none">
                <a:solidFill>
                  <a:srgbClr val="34D399"/>
                </a:solidFill>
                <a:latin typeface="Urbanist"/>
              </a:rPr>
              <a:t>Trang Chủ</a:t>
            </a:r>
          </a:p>
        </p:txBody>
      </p:sp>
      <p:pic>
        <p:nvPicPr>
          <p:cNvPr id="15" name="Picture 14">
            <a:extLst>
              <a:ext uri="{FF2B5EF4-FFF2-40B4-BE49-F238E27FC236}">
                <a16:creationId xmlns:a16="http://schemas.microsoft.com/office/drawing/2014/main" id="{B4AF56AB-EF46-2F39-5D19-992B7DA7DB4D}"/>
              </a:ext>
            </a:extLst>
          </p:cNvPr>
          <p:cNvPicPr>
            <a:picLocks noChangeAspect="1"/>
          </p:cNvPicPr>
          <p:nvPr/>
        </p:nvPicPr>
        <p:blipFill>
          <a:blip r:embed="rId3"/>
          <a:stretch>
            <a:fillRect/>
          </a:stretch>
        </p:blipFill>
        <p:spPr>
          <a:xfrm>
            <a:off x="6255067" y="2280195"/>
            <a:ext cx="5771429" cy="29333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29448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Quy Trình Tối Giản &amp; Rõ Ràng</a:t>
            </a:r>
          </a:p>
        </p:txBody>
      </p:sp>
      <p:sp>
        <p:nvSpPr>
          <p:cNvPr id="5" name="TextBox 4"/>
          <p:cNvSpPr txBox="1"/>
          <p:nvPr/>
        </p:nvSpPr>
        <p:spPr>
          <a:xfrm>
            <a:off x="819150" y="28564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Form đặt lịch được thiết kế chi tiết nhưng dễ dàng thao tác cho mọi đối tượng.</a:t>
            </a:r>
          </a:p>
        </p:txBody>
      </p:sp>
      <p:sp>
        <p:nvSpPr>
          <p:cNvPr id="6" name="TextBox 5"/>
          <p:cNvSpPr txBox="1"/>
          <p:nvPr/>
        </p:nvSpPr>
        <p:spPr>
          <a:xfrm>
            <a:off x="819150" y="35803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Cho phép khách hàng chọn nhanh loại dịch vụ, địa điểm và khung thời gian mong muốn.</a:t>
            </a:r>
          </a:p>
        </p:txBody>
      </p:sp>
      <p:sp>
        <p:nvSpPr>
          <p:cNvPr id="7" name="TextBox 6"/>
          <p:cNvSpPr txBox="1"/>
          <p:nvPr/>
        </p:nvSpPr>
        <p:spPr>
          <a:xfrm>
            <a:off x="819150" y="4304258"/>
            <a:ext cx="50387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Khu vực dành riêng để mô tả chi tiết sự cố cần sửa chữa.</a:t>
            </a:r>
          </a:p>
        </p:txBody>
      </p:sp>
      <p:sp>
        <p:nvSpPr>
          <p:cNvPr id="8" name="TextBox 7"/>
          <p:cNvSpPr txBox="1"/>
          <p:nvPr/>
        </p:nvSpPr>
        <p:spPr>
          <a:xfrm>
            <a:off x="819150" y="47233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Hệ thống tự động tính toán và hiển thị phí dịch vụ cơ bản một cách minh bạch trước khi chốt đơn.</a:t>
            </a:r>
          </a:p>
        </p:txBody>
      </p:sp>
      <p:sp>
        <p:nvSpPr>
          <p:cNvPr id="9" name="TextBox 8"/>
          <p:cNvSpPr txBox="1"/>
          <p:nvPr/>
        </p:nvSpPr>
        <p:spPr>
          <a:xfrm>
            <a:off x="581025" y="28755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35994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43233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47424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85775"/>
            <a:ext cx="4137548"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Tính Năng </a:t>
            </a:r>
            <a:r>
              <a:rPr sz="3600" b="1" i="0" u="none">
                <a:solidFill>
                  <a:srgbClr val="34D399"/>
                </a:solidFill>
                <a:latin typeface="Urbanist"/>
              </a:rPr>
              <a:t>Đặt Lịch</a:t>
            </a:r>
          </a:p>
        </p:txBody>
      </p:sp>
      <p:pic>
        <p:nvPicPr>
          <p:cNvPr id="15" name="Picture 14">
            <a:extLst>
              <a:ext uri="{FF2B5EF4-FFF2-40B4-BE49-F238E27FC236}">
                <a16:creationId xmlns:a16="http://schemas.microsoft.com/office/drawing/2014/main" id="{ECE938E6-09D7-C8EF-C357-5061C767E72F}"/>
              </a:ext>
            </a:extLst>
          </p:cNvPr>
          <p:cNvPicPr>
            <a:picLocks noChangeAspect="1"/>
          </p:cNvPicPr>
          <p:nvPr/>
        </p:nvPicPr>
        <p:blipFill>
          <a:blip r:embed="rId3"/>
          <a:stretch>
            <a:fillRect/>
          </a:stretch>
        </p:blipFill>
        <p:spPr>
          <a:xfrm>
            <a:off x="5839546" y="2280389"/>
            <a:ext cx="5771429" cy="30952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81025" y="2142083"/>
            <a:ext cx="5540692" cy="276225"/>
          </a:xfrm>
          <a:prstGeom prst="rect">
            <a:avLst/>
          </a:prstGeom>
          <a:noFill/>
        </p:spPr>
        <p:txBody>
          <a:bodyPr wrap="square" lIns="0" tIns="0" rIns="0" bIns="0" anchor="t">
            <a:spAutoFit/>
          </a:bodyPr>
          <a:lstStyle/>
          <a:p>
            <a:pPr algn="l"/>
            <a:r>
              <a:rPr sz="1800" b="0" i="0" u="none">
                <a:solidFill>
                  <a:srgbClr val="818CF8"/>
                </a:solidFill>
                <a:latin typeface="Urbanist SemiBold"/>
              </a:rPr>
              <a:t>Kiểm Soát Toàn Diện Hệ Thống</a:t>
            </a:r>
          </a:p>
        </p:txBody>
      </p:sp>
      <p:sp>
        <p:nvSpPr>
          <p:cNvPr id="5" name="TextBox 4"/>
          <p:cNvSpPr txBox="1"/>
          <p:nvPr/>
        </p:nvSpPr>
        <p:spPr>
          <a:xfrm>
            <a:off x="819150" y="27040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Cung cấp biểu đồ thống kê tổng quan về tình trạng đơn hàng (Mới, Đang xử lý, Đã hoàn thành).</a:t>
            </a:r>
          </a:p>
        </p:txBody>
      </p:sp>
      <p:sp>
        <p:nvSpPr>
          <p:cNvPr id="6" name="TextBox 5"/>
          <p:cNvSpPr txBox="1"/>
          <p:nvPr/>
        </p:nvSpPr>
        <p:spPr>
          <a:xfrm>
            <a:off x="819150" y="34279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Bảng quản lý đơn hàng chi tiết với các thao tác cập nhật trạng thái nhanh chóng.</a:t>
            </a:r>
          </a:p>
        </p:txBody>
      </p:sp>
      <p:sp>
        <p:nvSpPr>
          <p:cNvPr id="7" name="TextBox 6"/>
          <p:cNvSpPr txBox="1"/>
          <p:nvPr/>
        </p:nvSpPr>
        <p:spPr>
          <a:xfrm>
            <a:off x="819150" y="41518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Mọi hành động đều được bảo vệ bởi cơ chế phân quyền an toàn của Identity.</a:t>
            </a:r>
          </a:p>
        </p:txBody>
      </p:sp>
      <p:sp>
        <p:nvSpPr>
          <p:cNvPr id="8" name="TextBox 7"/>
          <p:cNvSpPr txBox="1"/>
          <p:nvPr/>
        </p:nvSpPr>
        <p:spPr>
          <a:xfrm>
            <a:off x="819150" y="4875758"/>
            <a:ext cx="5038725" cy="609600"/>
          </a:xfrm>
          <a:prstGeom prst="rect">
            <a:avLst/>
          </a:prstGeom>
          <a:noFill/>
        </p:spPr>
        <p:txBody>
          <a:bodyPr wrap="square" lIns="0" tIns="0" rIns="0" bIns="0" anchor="t">
            <a:spAutoFit/>
          </a:bodyPr>
          <a:lstStyle/>
          <a:p>
            <a:pPr algn="l">
              <a:lnSpc>
                <a:spcPts val="2400"/>
              </a:lnSpc>
            </a:pPr>
            <a:r>
              <a:rPr sz="1500" b="0" i="0" u="none">
                <a:solidFill>
                  <a:srgbClr val="CBD5E1"/>
                </a:solidFill>
                <a:latin typeface="Urbanist Medium"/>
              </a:rPr>
              <a:t>Giao diện quản trị viên thiết kế tối ưu cho việc theo dõi nghiệp vụ hàng ngày.</a:t>
            </a:r>
          </a:p>
        </p:txBody>
      </p:sp>
      <p:sp>
        <p:nvSpPr>
          <p:cNvPr id="9" name="TextBox 8"/>
          <p:cNvSpPr txBox="1"/>
          <p:nvPr/>
        </p:nvSpPr>
        <p:spPr>
          <a:xfrm>
            <a:off x="581025" y="27231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0" name="TextBox 9"/>
          <p:cNvSpPr txBox="1"/>
          <p:nvPr/>
        </p:nvSpPr>
        <p:spPr>
          <a:xfrm>
            <a:off x="581025" y="34470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1" name="TextBox 10"/>
          <p:cNvSpPr txBox="1"/>
          <p:nvPr/>
        </p:nvSpPr>
        <p:spPr>
          <a:xfrm>
            <a:off x="581025" y="41709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2" name="TextBox 11"/>
          <p:cNvSpPr txBox="1"/>
          <p:nvPr/>
        </p:nvSpPr>
        <p:spPr>
          <a:xfrm>
            <a:off x="581025" y="4894808"/>
            <a:ext cx="104775" cy="228600"/>
          </a:xfrm>
          <a:prstGeom prst="rect">
            <a:avLst/>
          </a:prstGeom>
          <a:noFill/>
        </p:spPr>
        <p:txBody>
          <a:bodyPr wrap="square" lIns="0" tIns="0" rIns="0" bIns="0" anchor="t">
            <a:spAutoFit/>
          </a:bodyPr>
          <a:lstStyle/>
          <a:p>
            <a:pPr algn="l">
              <a:lnSpc>
                <a:spcPts val="1800"/>
              </a:lnSpc>
            </a:pPr>
            <a:r>
              <a:rPr sz="1800" b="0" i="0" u="none">
                <a:solidFill>
                  <a:srgbClr val="34D399"/>
                </a:solidFill>
                <a:latin typeface="Urbanist Medium"/>
              </a:rPr>
              <a:t>▹</a:t>
            </a:r>
          </a:p>
        </p:txBody>
      </p:sp>
      <p:sp>
        <p:nvSpPr>
          <p:cNvPr id="13" name="TextBox 12"/>
          <p:cNvSpPr txBox="1"/>
          <p:nvPr/>
        </p:nvSpPr>
        <p:spPr>
          <a:xfrm>
            <a:off x="581025" y="485775"/>
            <a:ext cx="4390861"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Dashboard </a:t>
            </a:r>
            <a:r>
              <a:rPr sz="3600" b="1" i="0" u="none">
                <a:solidFill>
                  <a:srgbClr val="34D399"/>
                </a:solidFill>
                <a:latin typeface="Urbanist"/>
              </a:rPr>
              <a:t>Quản Trị</a:t>
            </a:r>
          </a:p>
        </p:txBody>
      </p:sp>
      <p:pic>
        <p:nvPicPr>
          <p:cNvPr id="15" name="Picture 14">
            <a:extLst>
              <a:ext uri="{FF2B5EF4-FFF2-40B4-BE49-F238E27FC236}">
                <a16:creationId xmlns:a16="http://schemas.microsoft.com/office/drawing/2014/main" id="{86769156-B04E-35C4-F7A8-BE4378B87705}"/>
              </a:ext>
            </a:extLst>
          </p:cNvPr>
          <p:cNvPicPr>
            <a:picLocks noChangeAspect="1"/>
          </p:cNvPicPr>
          <p:nvPr/>
        </p:nvPicPr>
        <p:blipFill>
          <a:blip r:embed="rId3"/>
          <a:stretch>
            <a:fillRect/>
          </a:stretch>
        </p:blipFill>
        <p:spPr>
          <a:xfrm>
            <a:off x="5991225" y="2099328"/>
            <a:ext cx="5771429" cy="30476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81025" y="4232820"/>
            <a:ext cx="11029950" cy="381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98302" y="4632870"/>
            <a:ext cx="3474340" cy="552450"/>
          </a:xfrm>
          <a:prstGeom prst="rect">
            <a:avLst/>
          </a:prstGeom>
          <a:noFill/>
        </p:spPr>
        <p:txBody>
          <a:bodyPr wrap="square" lIns="0" tIns="0" rIns="0" bIns="0" anchor="t">
            <a:spAutoFit/>
          </a:bodyPr>
          <a:lstStyle/>
          <a:p>
            <a:pPr algn="ctr"/>
            <a:r>
              <a:rPr sz="1800" b="0" i="0" u="none">
                <a:solidFill>
                  <a:srgbClr val="34D399"/>
                </a:solidFill>
                <a:latin typeface="Urbanist SemiBold"/>
              </a:rPr>
              <a:t>Ngắn Hạn</a:t>
            </a:r>
            <a:r>
              <a:t>
</a:t>
            </a:r>
            <a:r>
              <a:rPr sz="1800" b="0" i="0" u="none">
                <a:solidFill>
                  <a:srgbClr val="CBD5E1"/>
                </a:solidFill>
                <a:latin typeface="Urbanist"/>
              </a:rPr>
              <a:t>(3-6 Tháng)</a:t>
            </a:r>
          </a:p>
        </p:txBody>
      </p:sp>
      <p:sp>
        <p:nvSpPr>
          <p:cNvPr id="5" name="TextBox 4"/>
          <p:cNvSpPr txBox="1"/>
          <p:nvPr/>
        </p:nvSpPr>
        <p:spPr>
          <a:xfrm>
            <a:off x="581025" y="5356770"/>
            <a:ext cx="3308895" cy="82287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Urbanist"/>
              </a:rPr>
              <a:t>Tích hợp các cổng thanh toán online (VNPay, MoMo) và hệ thống gửi thông báo Email/SMS tự động.</a:t>
            </a:r>
          </a:p>
        </p:txBody>
      </p:sp>
      <p:sp>
        <p:nvSpPr>
          <p:cNvPr id="6" name="TextBox 5"/>
          <p:cNvSpPr txBox="1"/>
          <p:nvPr/>
        </p:nvSpPr>
        <p:spPr>
          <a:xfrm>
            <a:off x="4358755" y="2152650"/>
            <a:ext cx="3474340" cy="552450"/>
          </a:xfrm>
          <a:prstGeom prst="rect">
            <a:avLst/>
          </a:prstGeom>
          <a:noFill/>
        </p:spPr>
        <p:txBody>
          <a:bodyPr wrap="square" lIns="0" tIns="0" rIns="0" bIns="0" anchor="t">
            <a:spAutoFit/>
          </a:bodyPr>
          <a:lstStyle/>
          <a:p>
            <a:pPr algn="ctr"/>
            <a:r>
              <a:rPr sz="1800" b="0" i="0" u="none">
                <a:solidFill>
                  <a:srgbClr val="818CF8"/>
                </a:solidFill>
                <a:latin typeface="Urbanist SemiBold"/>
              </a:rPr>
              <a:t>Trung Hạn</a:t>
            </a:r>
            <a:r>
              <a:t>
</a:t>
            </a:r>
            <a:r>
              <a:rPr sz="1800" b="0" i="0" u="none">
                <a:solidFill>
                  <a:srgbClr val="CBD5E1"/>
                </a:solidFill>
                <a:latin typeface="Urbanist"/>
              </a:rPr>
              <a:t>(6-12 Tháng)</a:t>
            </a:r>
          </a:p>
        </p:txBody>
      </p:sp>
      <p:sp>
        <p:nvSpPr>
          <p:cNvPr id="7" name="TextBox 6"/>
          <p:cNvSpPr txBox="1"/>
          <p:nvPr/>
        </p:nvSpPr>
        <p:spPr>
          <a:xfrm>
            <a:off x="4441477" y="2876550"/>
            <a:ext cx="3308895" cy="82287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Urbanist"/>
              </a:rPr>
              <a:t>Phát triển tính năng Chat trực tiếp (SignalR), tích hợp định vị Google Maps và module quản lý vật tư.</a:t>
            </a:r>
          </a:p>
        </p:txBody>
      </p:sp>
      <p:sp>
        <p:nvSpPr>
          <p:cNvPr id="8" name="TextBox 7"/>
          <p:cNvSpPr txBox="1"/>
          <p:nvPr/>
        </p:nvSpPr>
        <p:spPr>
          <a:xfrm>
            <a:off x="8219208" y="4632870"/>
            <a:ext cx="3474340" cy="552450"/>
          </a:xfrm>
          <a:prstGeom prst="rect">
            <a:avLst/>
          </a:prstGeom>
          <a:noFill/>
        </p:spPr>
        <p:txBody>
          <a:bodyPr wrap="square" lIns="0" tIns="0" rIns="0" bIns="0" anchor="t">
            <a:spAutoFit/>
          </a:bodyPr>
          <a:lstStyle/>
          <a:p>
            <a:pPr algn="ctr"/>
            <a:r>
              <a:rPr sz="1800" b="0" i="0" u="none">
                <a:solidFill>
                  <a:srgbClr val="FB7185"/>
                </a:solidFill>
                <a:latin typeface="Urbanist SemiBold"/>
              </a:rPr>
              <a:t>Dài Hạn</a:t>
            </a:r>
            <a:r>
              <a:t>
</a:t>
            </a:r>
            <a:r>
              <a:rPr sz="1800" b="0" i="0" u="none">
                <a:solidFill>
                  <a:srgbClr val="CBD5E1"/>
                </a:solidFill>
                <a:latin typeface="Urbanist"/>
              </a:rPr>
              <a:t>(1-2 Năm)</a:t>
            </a:r>
          </a:p>
        </p:txBody>
      </p:sp>
      <p:sp>
        <p:nvSpPr>
          <p:cNvPr id="9" name="TextBox 8"/>
          <p:cNvSpPr txBox="1"/>
          <p:nvPr/>
        </p:nvSpPr>
        <p:spPr>
          <a:xfrm>
            <a:off x="8301930" y="5356770"/>
            <a:ext cx="3308895" cy="82287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Urbanist"/>
              </a:rPr>
              <a:t>Xây dựng Mobile App, mở rộng nền tảng thành mô hình Marketplace và áp dụng AI trong việc tư vấn dịch vụ.</a:t>
            </a:r>
          </a:p>
        </p:txBody>
      </p:sp>
      <p:sp>
        <p:nvSpPr>
          <p:cNvPr id="10" name="Rounded Rectangle 9"/>
          <p:cNvSpPr/>
          <p:nvPr/>
        </p:nvSpPr>
        <p:spPr>
          <a:xfrm>
            <a:off x="2121172" y="4137570"/>
            <a:ext cx="228600" cy="228600"/>
          </a:xfrm>
          <a:prstGeom prst="roundRect">
            <a:avLst>
              <a:gd name="adj" fmla="val 50000"/>
            </a:avLst>
          </a:prstGeom>
          <a:solidFill>
            <a:srgbClr val="020617"/>
          </a:solidFill>
          <a:ln w="381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81625" y="4137570"/>
            <a:ext cx="228600" cy="228600"/>
          </a:xfrm>
          <a:prstGeom prst="roundRect">
            <a:avLst>
              <a:gd name="adj" fmla="val 50000"/>
            </a:avLst>
          </a:prstGeom>
          <a:solidFill>
            <a:srgbClr val="020617"/>
          </a:solidFill>
          <a:ln w="381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842078" y="4137570"/>
            <a:ext cx="228600" cy="228600"/>
          </a:xfrm>
          <a:prstGeom prst="roundRect">
            <a:avLst>
              <a:gd name="adj" fmla="val 50000"/>
            </a:avLst>
          </a:prstGeom>
          <a:solidFill>
            <a:srgbClr val="020617"/>
          </a:solidFill>
          <a:ln w="381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1025" y="485775"/>
            <a:ext cx="6325634"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Hướng </a:t>
            </a:r>
            <a:r>
              <a:rPr sz="3600" b="1" i="0" u="none">
                <a:solidFill>
                  <a:srgbClr val="34D399"/>
                </a:solidFill>
                <a:latin typeface="Urbanist"/>
              </a:rPr>
              <a:t>Phát Triển</a:t>
            </a:r>
            <a:r>
              <a:rPr sz="3600" b="1" i="0" u="none">
                <a:solidFill>
                  <a:srgbClr val="F8FAFC"/>
                </a:solidFill>
                <a:latin typeface="Urbanist"/>
              </a:rPr>
              <a:t> Tương Lai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097387" y="4342358"/>
            <a:ext cx="3997076" cy="619125"/>
          </a:xfrm>
          <a:prstGeom prst="rect">
            <a:avLst/>
          </a:prstGeom>
        </p:spPr>
      </p:pic>
      <p:sp>
        <p:nvSpPr>
          <p:cNvPr id="4" name="TextBox 3"/>
          <p:cNvSpPr txBox="1"/>
          <p:nvPr/>
        </p:nvSpPr>
        <p:spPr>
          <a:xfrm>
            <a:off x="305276" y="1896367"/>
            <a:ext cx="11581447" cy="914400"/>
          </a:xfrm>
          <a:prstGeom prst="rect">
            <a:avLst/>
          </a:prstGeom>
          <a:noFill/>
        </p:spPr>
        <p:txBody>
          <a:bodyPr wrap="square" lIns="0" tIns="0" rIns="0" bIns="0" anchor="t">
            <a:spAutoFit/>
          </a:bodyPr>
          <a:lstStyle/>
          <a:p>
            <a:pPr algn="ctr"/>
            <a:r>
              <a:rPr sz="6000" b="1" i="0" u="none">
                <a:solidFill>
                  <a:srgbClr val="34D399"/>
                </a:solidFill>
                <a:latin typeface="Urbanist"/>
              </a:rPr>
              <a:t>Xin Cảm Ơn!</a:t>
            </a:r>
          </a:p>
        </p:txBody>
      </p:sp>
      <p:sp>
        <p:nvSpPr>
          <p:cNvPr id="5" name="TextBox 4"/>
          <p:cNvSpPr txBox="1"/>
          <p:nvPr/>
        </p:nvSpPr>
        <p:spPr>
          <a:xfrm>
            <a:off x="581025" y="3077467"/>
            <a:ext cx="11029950" cy="426690"/>
          </a:xfrm>
          <a:prstGeom prst="rect">
            <a:avLst/>
          </a:prstGeom>
          <a:noFill/>
        </p:spPr>
        <p:txBody>
          <a:bodyPr wrap="square" lIns="0" tIns="0" rIns="0" bIns="0" anchor="t">
            <a:spAutoFit/>
          </a:bodyPr>
          <a:lstStyle/>
          <a:p>
            <a:pPr algn="ctr">
              <a:lnSpc>
                <a:spcPts val="3359"/>
              </a:lnSpc>
            </a:pPr>
            <a:r>
              <a:rPr sz="2100" b="0" i="0" u="none">
                <a:solidFill>
                  <a:srgbClr val="E2E8F0"/>
                </a:solidFill>
                <a:latin typeface="Urbanist"/>
              </a:rPr>
              <a:t>Cảm ơn Quý Thầy Cô và các bạn đã lắng nghe.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81025" y="1422350"/>
            <a:ext cx="11029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81025" y="2207121"/>
            <a:ext cx="11029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81025" y="2991891"/>
            <a:ext cx="11029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81025" y="3776662"/>
            <a:ext cx="11029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81025" y="4561433"/>
            <a:ext cx="11029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1025" y="2197596"/>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1025" y="2197596"/>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1025" y="2982366"/>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1025" y="2982366"/>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1025" y="3767137"/>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1025" y="3767137"/>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81025" y="4551908"/>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1025" y="4551908"/>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025" y="5336678"/>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1025" y="5336678"/>
            <a:ext cx="11029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3"/>
          <a:stretch>
            <a:fillRect/>
          </a:stretch>
        </p:blipFill>
        <p:spPr>
          <a:xfrm>
            <a:off x="581025" y="1571773"/>
            <a:ext cx="857250" cy="476250"/>
          </a:xfrm>
          <a:prstGeom prst="rect">
            <a:avLst/>
          </a:prstGeom>
        </p:spPr>
      </p:pic>
      <p:sp>
        <p:nvSpPr>
          <p:cNvPr id="19" name="TextBox 18"/>
          <p:cNvSpPr txBox="1"/>
          <p:nvPr/>
        </p:nvSpPr>
        <p:spPr>
          <a:xfrm>
            <a:off x="1676400" y="1565225"/>
            <a:ext cx="9934575"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https://miro.medium.com/1*0fKT5_en7TjNfrompQ06iQ.png</a:t>
            </a:r>
          </a:p>
        </p:txBody>
      </p:sp>
      <p:sp>
        <p:nvSpPr>
          <p:cNvPr id="20" name="TextBox 19"/>
          <p:cNvSpPr txBox="1"/>
          <p:nvPr/>
        </p:nvSpPr>
        <p:spPr>
          <a:xfrm>
            <a:off x="1676400" y="1810940"/>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medium.com</a:t>
            </a:r>
          </a:p>
        </p:txBody>
      </p:sp>
      <p:pic>
        <p:nvPicPr>
          <p:cNvPr id="21" name="Picture 20" descr="image.png"/>
          <p:cNvPicPr>
            <a:picLocks noChangeAspect="1"/>
          </p:cNvPicPr>
          <p:nvPr/>
        </p:nvPicPr>
        <p:blipFill>
          <a:blip r:embed="rId4"/>
          <a:stretch>
            <a:fillRect/>
          </a:stretch>
        </p:blipFill>
        <p:spPr>
          <a:xfrm>
            <a:off x="581025" y="2356544"/>
            <a:ext cx="857250" cy="476250"/>
          </a:xfrm>
          <a:prstGeom prst="rect">
            <a:avLst/>
          </a:prstGeom>
        </p:spPr>
      </p:pic>
      <p:sp>
        <p:nvSpPr>
          <p:cNvPr id="22" name="TextBox 21"/>
          <p:cNvSpPr txBox="1"/>
          <p:nvPr/>
        </p:nvSpPr>
        <p:spPr>
          <a:xfrm>
            <a:off x="1676400" y="2349996"/>
            <a:ext cx="9934575"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https://slidebazaar.com/wp-content/uploads/2025/04/Entity-Relation-Diagram-PowerPoint-Template-Free.jpg</a:t>
            </a:r>
          </a:p>
        </p:txBody>
      </p:sp>
      <p:sp>
        <p:nvSpPr>
          <p:cNvPr id="23" name="TextBox 22"/>
          <p:cNvSpPr txBox="1"/>
          <p:nvPr/>
        </p:nvSpPr>
        <p:spPr>
          <a:xfrm>
            <a:off x="1676400" y="2595711"/>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slidebazaar.com</a:t>
            </a:r>
          </a:p>
        </p:txBody>
      </p:sp>
      <p:pic>
        <p:nvPicPr>
          <p:cNvPr id="24" name="Picture 23" descr="image.png"/>
          <p:cNvPicPr>
            <a:picLocks noChangeAspect="1"/>
          </p:cNvPicPr>
          <p:nvPr/>
        </p:nvPicPr>
        <p:blipFill>
          <a:blip r:embed="rId5"/>
          <a:stretch>
            <a:fillRect/>
          </a:stretch>
        </p:blipFill>
        <p:spPr>
          <a:xfrm>
            <a:off x="581025" y="3141315"/>
            <a:ext cx="857250" cy="476250"/>
          </a:xfrm>
          <a:prstGeom prst="rect">
            <a:avLst/>
          </a:prstGeom>
        </p:spPr>
      </p:pic>
      <p:sp>
        <p:nvSpPr>
          <p:cNvPr id="25" name="TextBox 24"/>
          <p:cNvSpPr txBox="1"/>
          <p:nvPr/>
        </p:nvSpPr>
        <p:spPr>
          <a:xfrm>
            <a:off x="1676400" y="3134766"/>
            <a:ext cx="9934575"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https://i.sstatic.net/J4v2S.png</a:t>
            </a:r>
          </a:p>
        </p:txBody>
      </p:sp>
      <p:sp>
        <p:nvSpPr>
          <p:cNvPr id="26" name="TextBox 25"/>
          <p:cNvSpPr txBox="1"/>
          <p:nvPr/>
        </p:nvSpPr>
        <p:spPr>
          <a:xfrm>
            <a:off x="1676400" y="3380482"/>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stackoverflow.com</a:t>
            </a:r>
          </a:p>
        </p:txBody>
      </p:sp>
      <p:pic>
        <p:nvPicPr>
          <p:cNvPr id="27" name="Picture 26" descr="image.png"/>
          <p:cNvPicPr>
            <a:picLocks noChangeAspect="1"/>
          </p:cNvPicPr>
          <p:nvPr/>
        </p:nvPicPr>
        <p:blipFill>
          <a:blip r:embed="rId6"/>
          <a:stretch>
            <a:fillRect/>
          </a:stretch>
        </p:blipFill>
        <p:spPr>
          <a:xfrm>
            <a:off x="581025" y="3926085"/>
            <a:ext cx="857250" cy="476250"/>
          </a:xfrm>
          <a:prstGeom prst="rect">
            <a:avLst/>
          </a:prstGeom>
        </p:spPr>
      </p:pic>
      <p:sp>
        <p:nvSpPr>
          <p:cNvPr id="28" name="TextBox 27"/>
          <p:cNvSpPr txBox="1"/>
          <p:nvPr/>
        </p:nvSpPr>
        <p:spPr>
          <a:xfrm>
            <a:off x="1676400" y="3919537"/>
            <a:ext cx="9934575"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https://edrawmax.wondershare.com/templates/UML/use-case-diagram-book-store-management.jpg</a:t>
            </a:r>
          </a:p>
        </p:txBody>
      </p:sp>
      <p:sp>
        <p:nvSpPr>
          <p:cNvPr id="29" name="TextBox 28"/>
          <p:cNvSpPr txBox="1"/>
          <p:nvPr/>
        </p:nvSpPr>
        <p:spPr>
          <a:xfrm>
            <a:off x="1676400" y="4165252"/>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edrawmax.wondershare.com</a:t>
            </a:r>
          </a:p>
        </p:txBody>
      </p:sp>
      <p:pic>
        <p:nvPicPr>
          <p:cNvPr id="30" name="Picture 29" descr="image.png"/>
          <p:cNvPicPr>
            <a:picLocks noChangeAspect="1"/>
          </p:cNvPicPr>
          <p:nvPr/>
        </p:nvPicPr>
        <p:blipFill>
          <a:blip r:embed="rId7"/>
          <a:stretch>
            <a:fillRect/>
          </a:stretch>
        </p:blipFill>
        <p:spPr>
          <a:xfrm>
            <a:off x="581025" y="4710856"/>
            <a:ext cx="857250" cy="476250"/>
          </a:xfrm>
          <a:prstGeom prst="rect">
            <a:avLst/>
          </a:prstGeom>
        </p:spPr>
      </p:pic>
      <p:sp>
        <p:nvSpPr>
          <p:cNvPr id="31" name="TextBox 30"/>
          <p:cNvSpPr txBox="1"/>
          <p:nvPr/>
        </p:nvSpPr>
        <p:spPr>
          <a:xfrm>
            <a:off x="1676400" y="4704308"/>
            <a:ext cx="9934575"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https://content-management-files.canva.com/7c39153e-65a4-4b19-9d80-c64812bcd3ee/graph_uml-use-case-diagram_promo-showcase_05.png</a:t>
            </a:r>
          </a:p>
        </p:txBody>
      </p:sp>
      <p:sp>
        <p:nvSpPr>
          <p:cNvPr id="32" name="TextBox 31"/>
          <p:cNvSpPr txBox="1"/>
          <p:nvPr/>
        </p:nvSpPr>
        <p:spPr>
          <a:xfrm>
            <a:off x="1676400" y="4950023"/>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www.canva.com</a:t>
            </a:r>
          </a:p>
        </p:txBody>
      </p:sp>
      <p:pic>
        <p:nvPicPr>
          <p:cNvPr id="33" name="Picture 32" descr="image.png"/>
          <p:cNvPicPr>
            <a:picLocks noChangeAspect="1"/>
          </p:cNvPicPr>
          <p:nvPr/>
        </p:nvPicPr>
        <p:blipFill>
          <a:blip r:embed="rId8"/>
          <a:stretch>
            <a:fillRect/>
          </a:stretch>
        </p:blipFill>
        <p:spPr>
          <a:xfrm>
            <a:off x="581025" y="5594746"/>
            <a:ext cx="857250" cy="476250"/>
          </a:xfrm>
          <a:prstGeom prst="rect">
            <a:avLst/>
          </a:prstGeom>
        </p:spPr>
      </p:pic>
      <p:sp>
        <p:nvSpPr>
          <p:cNvPr id="34" name="TextBox 33"/>
          <p:cNvSpPr txBox="1"/>
          <p:nvPr/>
        </p:nvSpPr>
        <p:spPr>
          <a:xfrm>
            <a:off x="1676400" y="5489078"/>
            <a:ext cx="9934575" cy="39618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https://market-resized.envatousercontent.com/previews/files/819104144/preview-image/04_service_details.png?w=590&amp;h=300&amp;cf_fit=crop&amp;crop=top&amp;format=auto&amp;q=85&amp;s=527ab9a762544076c62f022b76d1fb4eeeb06a83daa9bd1310420f6706be7507</a:t>
            </a:r>
          </a:p>
        </p:txBody>
      </p:sp>
      <p:sp>
        <p:nvSpPr>
          <p:cNvPr id="35" name="TextBox 34"/>
          <p:cNvSpPr txBox="1"/>
          <p:nvPr/>
        </p:nvSpPr>
        <p:spPr>
          <a:xfrm>
            <a:off x="1676400" y="5932884"/>
            <a:ext cx="9934575"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themeforest.net</a:t>
            </a:r>
          </a:p>
        </p:txBody>
      </p:sp>
      <p:sp>
        <p:nvSpPr>
          <p:cNvPr id="36" name="TextBox 35"/>
          <p:cNvSpPr txBox="1"/>
          <p:nvPr/>
        </p:nvSpPr>
        <p:spPr>
          <a:xfrm>
            <a:off x="581025" y="485775"/>
            <a:ext cx="3200400"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Image Sources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2109787" y="2698551"/>
            <a:ext cx="7972425"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109787" y="3483322"/>
            <a:ext cx="7972425"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109787" y="3473797"/>
            <a:ext cx="79724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109787" y="3473797"/>
            <a:ext cx="79724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109787" y="4258567"/>
            <a:ext cx="79724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109787" y="4258567"/>
            <a:ext cx="79724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2109787" y="2847975"/>
            <a:ext cx="857250" cy="476250"/>
          </a:xfrm>
          <a:prstGeom prst="rect">
            <a:avLst/>
          </a:prstGeom>
        </p:spPr>
      </p:pic>
      <p:sp>
        <p:nvSpPr>
          <p:cNvPr id="10" name="TextBox 9"/>
          <p:cNvSpPr txBox="1"/>
          <p:nvPr/>
        </p:nvSpPr>
        <p:spPr>
          <a:xfrm>
            <a:off x="3205162" y="2841426"/>
            <a:ext cx="6877050"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https://cdn.dribbble.com/userupload/46698897/file/512f4162e32e81468680d6adf45f302b.png?resize=420x&amp;vertical=center</a:t>
            </a:r>
          </a:p>
        </p:txBody>
      </p:sp>
      <p:sp>
        <p:nvSpPr>
          <p:cNvPr id="11" name="TextBox 10"/>
          <p:cNvSpPr txBox="1"/>
          <p:nvPr/>
        </p:nvSpPr>
        <p:spPr>
          <a:xfrm>
            <a:off x="3205162" y="3087141"/>
            <a:ext cx="6877050"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dribbble.com</a:t>
            </a:r>
          </a:p>
        </p:txBody>
      </p:sp>
      <p:pic>
        <p:nvPicPr>
          <p:cNvPr id="12" name="Picture 11" descr="image.png"/>
          <p:cNvPicPr>
            <a:picLocks noChangeAspect="1"/>
          </p:cNvPicPr>
          <p:nvPr/>
        </p:nvPicPr>
        <p:blipFill>
          <a:blip r:embed="rId4"/>
          <a:stretch>
            <a:fillRect/>
          </a:stretch>
        </p:blipFill>
        <p:spPr>
          <a:xfrm>
            <a:off x="2109787" y="3632745"/>
            <a:ext cx="857250" cy="476250"/>
          </a:xfrm>
          <a:prstGeom prst="rect">
            <a:avLst/>
          </a:prstGeom>
        </p:spPr>
      </p:pic>
      <p:sp>
        <p:nvSpPr>
          <p:cNvPr id="13" name="TextBox 12"/>
          <p:cNvSpPr txBox="1"/>
          <p:nvPr/>
        </p:nvSpPr>
        <p:spPr>
          <a:xfrm>
            <a:off x="3205162" y="3626197"/>
            <a:ext cx="6877050"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https://flatlogic.com/blog/wp-content/uploads/2019/08/Screen-Shot-2019-08-23-at-4.18.44-PM-1024x590.png</a:t>
            </a:r>
          </a:p>
        </p:txBody>
      </p:sp>
      <p:sp>
        <p:nvSpPr>
          <p:cNvPr id="14" name="TextBox 13"/>
          <p:cNvSpPr txBox="1"/>
          <p:nvPr/>
        </p:nvSpPr>
        <p:spPr>
          <a:xfrm>
            <a:off x="3205162" y="3871912"/>
            <a:ext cx="6877050"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flatlogic.com</a:t>
            </a:r>
          </a:p>
        </p:txBody>
      </p:sp>
      <p:pic>
        <p:nvPicPr>
          <p:cNvPr id="15" name="Picture 14" descr="image.png"/>
          <p:cNvPicPr>
            <a:picLocks noChangeAspect="1"/>
          </p:cNvPicPr>
          <p:nvPr/>
        </p:nvPicPr>
        <p:blipFill>
          <a:blip r:embed="rId5"/>
          <a:stretch>
            <a:fillRect/>
          </a:stretch>
        </p:blipFill>
        <p:spPr>
          <a:xfrm>
            <a:off x="2109787" y="4417516"/>
            <a:ext cx="857250" cy="476250"/>
          </a:xfrm>
          <a:prstGeom prst="rect">
            <a:avLst/>
          </a:prstGeom>
        </p:spPr>
      </p:pic>
      <p:sp>
        <p:nvSpPr>
          <p:cNvPr id="16" name="TextBox 15"/>
          <p:cNvSpPr txBox="1"/>
          <p:nvPr/>
        </p:nvSpPr>
        <p:spPr>
          <a:xfrm>
            <a:off x="3205162" y="4410967"/>
            <a:ext cx="6877050" cy="198090"/>
          </a:xfrm>
          <a:prstGeom prst="rect">
            <a:avLst/>
          </a:prstGeom>
          <a:noFill/>
        </p:spPr>
        <p:txBody>
          <a:bodyPr wrap="square" lIns="0" tIns="0" rIns="0" bIns="0" anchor="t">
            <a:spAutoFit/>
          </a:bodyPr>
          <a:lstStyle/>
          <a:p>
            <a:pPr algn="l">
              <a:lnSpc>
                <a:spcPts val="1560"/>
              </a:lnSpc>
            </a:pPr>
            <a:r>
              <a:rPr sz="975" b="0" i="0" u="none">
                <a:solidFill>
                  <a:srgbClr val="CBD5E1"/>
                </a:solidFill>
                <a:latin typeface="Urbanist Medium"/>
              </a:rPr>
              <a:t>https://www.strataigize.com/blog/ai/gem-1.webp</a:t>
            </a:r>
          </a:p>
        </p:txBody>
      </p:sp>
      <p:sp>
        <p:nvSpPr>
          <p:cNvPr id="17" name="TextBox 16"/>
          <p:cNvSpPr txBox="1"/>
          <p:nvPr/>
        </p:nvSpPr>
        <p:spPr>
          <a:xfrm>
            <a:off x="3205162" y="4656683"/>
            <a:ext cx="6877050" cy="243780"/>
          </a:xfrm>
          <a:prstGeom prst="rect">
            <a:avLst/>
          </a:prstGeom>
          <a:noFill/>
        </p:spPr>
        <p:txBody>
          <a:bodyPr wrap="square" lIns="0" tIns="0" rIns="0" bIns="0" anchor="t">
            <a:spAutoFit/>
          </a:bodyPr>
          <a:lstStyle/>
          <a:p>
            <a:pPr algn="l">
              <a:lnSpc>
                <a:spcPts val="1920"/>
              </a:lnSpc>
            </a:pPr>
            <a:r>
              <a:rPr sz="1200" b="0" i="0" u="none">
                <a:solidFill>
                  <a:srgbClr val="CBD5E1"/>
                </a:solidFill>
                <a:latin typeface="Urbanist Medium"/>
              </a:rPr>
              <a:t>Source: </a:t>
            </a:r>
            <a:r>
              <a:rPr sz="1200" b="0" i="0" u="none">
                <a:solidFill>
                  <a:srgbClr val="4F46E5"/>
                </a:solidFill>
                <a:latin typeface="Urbanist Medium"/>
              </a:rPr>
              <a:t>www.strataigize.com</a:t>
            </a:r>
          </a:p>
        </p:txBody>
      </p:sp>
      <p:sp>
        <p:nvSpPr>
          <p:cNvPr id="18" name="TextBox 17"/>
          <p:cNvSpPr txBox="1"/>
          <p:nvPr/>
        </p:nvSpPr>
        <p:spPr>
          <a:xfrm>
            <a:off x="581025" y="485775"/>
            <a:ext cx="3200400" cy="502890"/>
          </a:xfrm>
          <a:prstGeom prst="rect">
            <a:avLst/>
          </a:prstGeom>
          <a:noFill/>
        </p:spPr>
        <p:txBody>
          <a:bodyPr wrap="square" lIns="0" tIns="0" rIns="0" bIns="0" anchor="t">
            <a:spAutoFit/>
          </a:bodyPr>
          <a:lstStyle/>
          <a:p>
            <a:pPr algn="l">
              <a:lnSpc>
                <a:spcPts val="3959"/>
              </a:lnSpc>
            </a:pPr>
            <a:r>
              <a:rPr sz="3600" b="1" i="0" u="none">
                <a:solidFill>
                  <a:srgbClr val="F8FAFC"/>
                </a:solidFill>
                <a:latin typeface="Urbanist"/>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1560</Words>
  <Application>Microsoft Office PowerPoint</Application>
  <PresentationFormat>Widescreen</PresentationFormat>
  <Paragraphs>155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serif Medium</vt:lpstr>
      <vt:lpstr>Urbanist</vt:lpstr>
      <vt:lpstr>Urbanist Medium</vt:lpstr>
      <vt:lpstr>Urbanist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CHAU THANH XANG DAU</cp:lastModifiedBy>
  <cp:revision>2</cp:revision>
  <dcterms:created xsi:type="dcterms:W3CDTF">2013-01-27T09:14:16Z</dcterms:created>
  <dcterms:modified xsi:type="dcterms:W3CDTF">2026-07-22T00:57:14Z</dcterms:modified>
  <cp:category/>
</cp:coreProperties>
</file>